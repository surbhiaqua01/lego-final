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sldIdLst>
    <p:sldId id="530" r:id="rId5"/>
    <p:sldId id="533" r:id="rId6"/>
    <p:sldId id="565" r:id="rId7"/>
    <p:sldId id="566" r:id="rId8"/>
    <p:sldId id="564" r:id="rId9"/>
    <p:sldId id="535" r:id="rId10"/>
    <p:sldId id="536" r:id="rId11"/>
    <p:sldId id="537" r:id="rId12"/>
    <p:sldId id="546" r:id="rId13"/>
    <p:sldId id="574" r:id="rId14"/>
    <p:sldId id="575" r:id="rId15"/>
    <p:sldId id="534" r:id="rId16"/>
    <p:sldId id="576" r:id="rId17"/>
    <p:sldId id="567" r:id="rId18"/>
    <p:sldId id="568" r:id="rId19"/>
    <p:sldId id="570" r:id="rId20"/>
    <p:sldId id="569" r:id="rId21"/>
    <p:sldId id="571" r:id="rId22"/>
    <p:sldId id="554" r:id="rId23"/>
    <p:sldId id="560" r:id="rId24"/>
    <p:sldId id="561" r:id="rId25"/>
    <p:sldId id="562" r:id="rId26"/>
    <p:sldId id="563" r:id="rId27"/>
    <p:sldId id="547" r:id="rId28"/>
    <p:sldId id="552" r:id="rId29"/>
    <p:sldId id="556" r:id="rId30"/>
    <p:sldId id="557" r:id="rId31"/>
    <p:sldId id="558" r:id="rId32"/>
    <p:sldId id="559" r:id="rId33"/>
    <p:sldId id="54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A0672B-3AB7-8734-F6CF-6B2B3F730CF8}" v="2" dt="2025-12-10T05:30:29.622"/>
    <p1510:client id="{4C5EE925-BE85-484D-3019-605CCFCD2CA7}" v="101" dt="2025-12-10T20:43:03.957"/>
    <p1510:client id="{5CD615B2-D1F0-73A0-7C47-AB319E4744B3}" v="590" dt="2025-12-10T05:42:35.539"/>
    <p1510:client id="{6881A0D4-CB36-FD58-2269-7B595152DB87}" v="65" dt="2025-12-10T21:04:52.903"/>
    <p1510:client id="{97D4A96F-E29D-40F9-A092-37269F191D63}" v="567" dt="2025-12-11T02:08:43.491"/>
    <p1510:client id="{ABB81668-96A0-CEF2-A89C-7862FD68F237}" v="418" dt="2025-12-10T02:34:24.091"/>
    <p1510:client id="{B131064C-EB01-BB07-0D48-AA3969BABF4E}" v="210" dt="2025-12-11T00:58:10.043"/>
    <p1510:client id="{BBDB35FE-5960-446B-A0C7-2C2BDE68649D}" v="214" dt="2025-12-10T06:06:04.456"/>
    <p1510:client id="{CE21AC1A-40B6-EBA7-5FCC-6F24E81D8CCA}" v="12" dt="2025-12-11T01:20:12.1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0.xml"/><Relationship Id="rId4" Type="http://schemas.openxmlformats.org/officeDocument/2006/relationships/image" Target="../media/image1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hyperlink" Target="https://freesvg.org/thank-you-decoration" TargetMode="External"/><Relationship Id="rId2" Type="http://schemas.openxmlformats.org/officeDocument/2006/relationships/image" Target="../media/image15.png"/><Relationship Id="rId1" Type="http://schemas.openxmlformats.org/officeDocument/2006/relationships/slideLayout" Target="../slideLayouts/slideLayout14.xml"/><Relationship Id="rId6" Type="http://schemas.openxmlformats.org/officeDocument/2006/relationships/hyperlink" Target="https://delaideaalnegocio.blogspot.com/2013/12/10-consejos-para-saber-que-negocio.html" TargetMode="External"/><Relationship Id="rId5" Type="http://schemas.microsoft.com/office/2007/relationships/hdphoto" Target="../media/hdphoto1.wdp"/><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50264" y="2176272"/>
            <a:ext cx="12164107" cy="1481328"/>
          </a:xfrm>
        </p:spPr>
        <p:txBody>
          <a:bodyPr/>
          <a:lstStyle/>
          <a:p>
            <a:r>
              <a:rPr lang="en-US" dirty="0">
                <a:ea typeface="+mj-lt"/>
                <a:cs typeface="+mj-lt"/>
              </a:rPr>
              <a:t>LEGO Pricing &amp; Value Analysis</a:t>
            </a:r>
            <a:br>
              <a:rPr lang="en-US" dirty="0"/>
            </a:br>
            <a:r>
              <a:rPr lang="en-US" dirty="0"/>
              <a:t>DATA 3350 Group 2</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vert="horz" lIns="91440" tIns="45720" rIns="91440" bIns="45720" rtlCol="0" anchor="t">
            <a:noAutofit/>
          </a:bodyPr>
          <a:lstStyle/>
          <a:p>
            <a:r>
              <a:rPr lang="en-US">
                <a:cs typeface="Segoe UI"/>
              </a:rPr>
              <a:t>Amanda Weeks, Maitri </a:t>
            </a:r>
            <a:r>
              <a:rPr lang="en-US" err="1">
                <a:cs typeface="Segoe UI"/>
              </a:rPr>
              <a:t>Gemlawala</a:t>
            </a:r>
            <a:r>
              <a:rPr lang="en-US">
                <a:cs typeface="Segoe UI"/>
              </a:rPr>
              <a:t>, Mayur </a:t>
            </a:r>
            <a:r>
              <a:rPr lang="en-US" err="1">
                <a:cs typeface="Segoe UI"/>
              </a:rPr>
              <a:t>Vermani</a:t>
            </a:r>
            <a:r>
              <a:rPr lang="en-US">
                <a:cs typeface="Segoe UI"/>
              </a:rPr>
              <a:t>, Rui Zhang, Surbhi Gemlawala</a:t>
            </a:r>
            <a:endParaRPr lang="en-US"/>
          </a:p>
          <a:p>
            <a:endParaRPr lang="en-US"/>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a:t>LEGO PROFIT OPTIMIZATION PROJECT</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1499218" y="3673989"/>
            <a:ext cx="8972693" cy="2072551"/>
          </a:xfrm>
        </p:spPr>
        <p:txBody>
          <a:bodyPr vert="horz" lIns="91440" tIns="45720" rIns="91440" bIns="45720" rtlCol="0" anchor="t">
            <a:noAutofit/>
          </a:bodyPr>
          <a:lstStyle/>
          <a:p>
            <a:pPr marL="0" indent="0">
              <a:buNone/>
            </a:pPr>
            <a:r>
              <a:rPr lang="en-US" b="1">
                <a:cs typeface="Segoe UI"/>
              </a:rPr>
              <a:t>Objective: </a:t>
            </a:r>
            <a:r>
              <a:rPr lang="en-US">
                <a:cs typeface="Segoe UI"/>
              </a:rPr>
              <a:t>Use data-driven analysis to help LEGO increase profits on products sold</a:t>
            </a:r>
            <a:endParaRPr lang="en-US"/>
          </a:p>
          <a:p>
            <a:r>
              <a:rPr lang="en-US" b="1">
                <a:cs typeface="Segoe UI"/>
              </a:rPr>
              <a:t>Our Role: </a:t>
            </a:r>
            <a:r>
              <a:rPr lang="en-US">
                <a:cs typeface="Segoe UI"/>
              </a:rPr>
              <a:t>External analytics consultant providing strategic insights. Responsible for evidence-based recommendations and prototype development.</a:t>
            </a:r>
            <a:endParaRPr lang="en-US"/>
          </a:p>
          <a:p>
            <a:r>
              <a:rPr lang="en-US" b="1">
                <a:cs typeface="Segoe UI"/>
              </a:rPr>
              <a:t>Deliverables: </a:t>
            </a:r>
            <a:r>
              <a:rPr lang="en-US">
                <a:cs typeface="Segoe UI"/>
              </a:rPr>
              <a:t>Insights from dataset analysis and b</a:t>
            </a:r>
            <a:r>
              <a:rPr lang="en-US">
                <a:cs typeface="Segoe UI Light"/>
              </a:rPr>
              <a:t>usiness recommendations</a:t>
            </a:r>
          </a:p>
          <a:p>
            <a:endParaRPr lang="en-US" b="1"/>
          </a:p>
          <a:p>
            <a:pPr marL="347345" indent="-347345"/>
            <a:endParaRPr lang="en-US"/>
          </a:p>
        </p:txBody>
      </p:sp>
    </p:spTree>
    <p:extLst>
      <p:ext uri="{BB962C8B-B14F-4D97-AF65-F5344CB8AC3E}">
        <p14:creationId xmlns:p14="http://schemas.microsoft.com/office/powerpoint/2010/main" val="3380759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F2865-B7B4-69C5-0134-D37012510BF5}"/>
              </a:ext>
            </a:extLst>
          </p:cNvPr>
          <p:cNvSpPr>
            <a:spLocks noGrp="1"/>
          </p:cNvSpPr>
          <p:nvPr>
            <p:ph type="title"/>
          </p:nvPr>
        </p:nvSpPr>
        <p:spPr>
          <a:xfrm>
            <a:off x="841099" y="413934"/>
            <a:ext cx="10881360" cy="1069848"/>
          </a:xfrm>
        </p:spPr>
        <p:txBody>
          <a:bodyPr>
            <a:normAutofit/>
          </a:bodyPr>
          <a:lstStyle/>
          <a:p>
            <a:r>
              <a:rPr lang="en-US"/>
              <a:t>Business context</a:t>
            </a:r>
            <a:br>
              <a:rPr lang="en-US"/>
            </a:br>
            <a:r>
              <a:rPr lang="en-US" sz="2400"/>
              <a:t>key issues related to profitability</a:t>
            </a:r>
          </a:p>
        </p:txBody>
      </p:sp>
      <p:sp>
        <p:nvSpPr>
          <p:cNvPr id="3" name="Content Placeholder 2">
            <a:extLst>
              <a:ext uri="{FF2B5EF4-FFF2-40B4-BE49-F238E27FC236}">
                <a16:creationId xmlns:a16="http://schemas.microsoft.com/office/drawing/2014/main" id="{161D132F-0029-7F3F-B7B3-EECE2C015A74}"/>
              </a:ext>
            </a:extLst>
          </p:cNvPr>
          <p:cNvSpPr>
            <a:spLocks noGrp="1"/>
          </p:cNvSpPr>
          <p:nvPr>
            <p:ph sz="half" idx="1"/>
          </p:nvPr>
        </p:nvSpPr>
        <p:spPr>
          <a:xfrm>
            <a:off x="838200" y="1119381"/>
            <a:ext cx="10069551" cy="4314168"/>
          </a:xfrm>
        </p:spPr>
        <p:txBody>
          <a:bodyPr vert="horz" lIns="91440" tIns="45720" rIns="91440" bIns="45720" rtlCol="0" anchor="t">
            <a:noAutofit/>
          </a:bodyPr>
          <a:lstStyle/>
          <a:p>
            <a:pPr marL="0" indent="0">
              <a:buNone/>
            </a:pPr>
            <a:endParaRPr lang="en-US" sz="2400" b="1" u="sng"/>
          </a:p>
          <a:p>
            <a:pPr indent="-347345"/>
            <a:r>
              <a:rPr lang="en-US" sz="2000" b="1">
                <a:cs typeface="Segoe UI"/>
              </a:rPr>
              <a:t>Product Evolution Overtime</a:t>
            </a:r>
            <a:r>
              <a:rPr lang="en-US" sz="2000">
                <a:cs typeface="Segoe UI"/>
              </a:rPr>
              <a:t>                         How prices and price-per-piece have changed across release years, and whether newer sets are becoming more expensive or more complex.</a:t>
            </a:r>
            <a:endParaRPr lang="en-US"/>
          </a:p>
          <a:p>
            <a:pPr indent="-347345"/>
            <a:r>
              <a:rPr lang="en-US" sz="2000" b="1">
                <a:cs typeface="Segoe UI Light"/>
              </a:rPr>
              <a:t>Consumer Demand Across Groups</a:t>
            </a:r>
            <a:br>
              <a:rPr lang="en-US" sz="2000" b="1">
                <a:cs typeface="Segoe UI Light"/>
              </a:rPr>
            </a:br>
            <a:r>
              <a:rPr lang="en-US" sz="2000">
                <a:cs typeface="Segoe UI Light"/>
              </a:rPr>
              <a:t> Whether products designed for younger vs. older builders should be priced differently.</a:t>
            </a:r>
            <a:endParaRPr lang="en-US"/>
          </a:p>
          <a:p>
            <a:pPr indent="-347345"/>
            <a:r>
              <a:rPr lang="en-US" sz="2000" b="1">
                <a:cs typeface="Segoe UI Light"/>
              </a:rPr>
              <a:t>Fanatic Buyer Behavior</a:t>
            </a:r>
            <a:br>
              <a:rPr lang="en-US" sz="2000" b="1">
                <a:cs typeface="Segoe UI Light"/>
              </a:rPr>
            </a:br>
            <a:r>
              <a:rPr lang="en-US" sz="2000">
                <a:cs typeface="Segoe UI Light"/>
              </a:rPr>
              <a:t> High-value adult collectors and how premium sets contribute to profits.</a:t>
            </a:r>
            <a:endParaRPr lang="en-US"/>
          </a:p>
          <a:p>
            <a:pPr indent="-347345"/>
            <a:r>
              <a:rPr lang="en-US" sz="2000" b="1">
                <a:cs typeface="Segoe UI Light"/>
              </a:rPr>
              <a:t>Value Efficiency of Sets</a:t>
            </a:r>
            <a:br>
              <a:rPr lang="en-US" sz="2000">
                <a:cs typeface="Segoe UI Light"/>
              </a:rPr>
            </a:br>
            <a:r>
              <a:rPr lang="en-US" sz="2000">
                <a:cs typeface="Segoe UI Light"/>
              </a:rPr>
              <a:t> How the number of pieces affects cost efficiency </a:t>
            </a:r>
            <a:endParaRPr lang="en-US"/>
          </a:p>
          <a:p>
            <a:pPr indent="-347345"/>
            <a:r>
              <a:rPr lang="en-US" sz="2000" b="1">
                <a:cs typeface="Segoe UI Light"/>
              </a:rPr>
              <a:t>Seasonality &amp; Demand Cycles</a:t>
            </a:r>
            <a:br>
              <a:rPr lang="en-US" sz="2000">
                <a:cs typeface="Segoe UI Light"/>
              </a:rPr>
            </a:br>
            <a:r>
              <a:rPr lang="en-US" sz="2000">
                <a:cs typeface="Segoe UI Light"/>
              </a:rPr>
              <a:t> Understanding when sales peak and how inventory should be optimized.</a:t>
            </a:r>
          </a:p>
          <a:p>
            <a:pPr indent="-347345"/>
            <a:r>
              <a:rPr lang="en-US" sz="2000" b="1">
                <a:cs typeface="Segoe UI Light"/>
              </a:rPr>
              <a:t>Product Size Segmentation</a:t>
            </a:r>
            <a:br>
              <a:rPr lang="en-US" sz="2000" b="1">
                <a:cs typeface="Segoe UI Light"/>
              </a:rPr>
            </a:br>
            <a:r>
              <a:rPr lang="en-US" sz="2000" b="1">
                <a:cs typeface="Segoe UI Light"/>
              </a:rPr>
              <a:t> </a:t>
            </a:r>
            <a:r>
              <a:rPr lang="en-US" sz="2000">
                <a:cs typeface="Segoe UI Light"/>
              </a:rPr>
              <a:t>How small, Medium, and Large sets differ in price and piece count, and how these differences guide pricing strategy.</a:t>
            </a:r>
            <a:endParaRPr lang="en-US" sz="2000">
              <a:solidFill>
                <a:srgbClr val="000000"/>
              </a:solidFill>
              <a:cs typeface="Segoe UI Light"/>
            </a:endParaRPr>
          </a:p>
          <a:p>
            <a:pPr indent="-347345"/>
            <a:endParaRPr lang="en-US" sz="2000">
              <a:solidFill>
                <a:srgbClr val="000000"/>
              </a:solidFill>
              <a:cs typeface="Segoe UI Light"/>
            </a:endParaRPr>
          </a:p>
          <a:p>
            <a:pPr indent="-347345"/>
            <a:endParaRPr lang="en-US" sz="2000">
              <a:cs typeface="Segoe UI Light"/>
            </a:endParaRPr>
          </a:p>
          <a:p>
            <a:pPr indent="-347345"/>
            <a:endParaRPr lang="en-US" sz="2000"/>
          </a:p>
          <a:p>
            <a:pPr marL="0" indent="0">
              <a:buNone/>
            </a:pPr>
            <a:endParaRPr lang="en-US" sz="2000"/>
          </a:p>
        </p:txBody>
      </p:sp>
      <p:sp>
        <p:nvSpPr>
          <p:cNvPr id="6" name="Slide Number Placeholder 5">
            <a:extLst>
              <a:ext uri="{FF2B5EF4-FFF2-40B4-BE49-F238E27FC236}">
                <a16:creationId xmlns:a16="http://schemas.microsoft.com/office/drawing/2014/main" id="{D38392CD-B16F-FF56-B3FE-5947C0964CEF}"/>
              </a:ext>
            </a:extLst>
          </p:cNvPr>
          <p:cNvSpPr>
            <a:spLocks noGrp="1"/>
          </p:cNvSpPr>
          <p:nvPr>
            <p:ph type="sldNum" sz="quarter" idx="12"/>
          </p:nvPr>
        </p:nvSpPr>
        <p:spPr/>
        <p:txBody>
          <a:bodyPr/>
          <a:lstStyle/>
          <a:p>
            <a:fld id="{294A09A9-5501-47C1-A89A-A340965A2BE2}" type="slidenum">
              <a:rPr lang="en-US" smtClean="0"/>
              <a:t>3</a:t>
            </a:fld>
            <a:endParaRPr lang="en-US"/>
          </a:p>
        </p:txBody>
      </p:sp>
    </p:spTree>
    <p:extLst>
      <p:ext uri="{BB962C8B-B14F-4D97-AF65-F5344CB8AC3E}">
        <p14:creationId xmlns:p14="http://schemas.microsoft.com/office/powerpoint/2010/main" val="85997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B439D8-4A21-BF64-4F7A-428FA5D3695F}"/>
              </a:ext>
            </a:extLst>
          </p:cNvPr>
          <p:cNvSpPr>
            <a:spLocks noGrp="1"/>
          </p:cNvSpPr>
          <p:nvPr>
            <p:ph type="sldNum" sz="quarter" idx="11"/>
          </p:nvPr>
        </p:nvSpPr>
        <p:spPr/>
        <p:txBody>
          <a:bodyPr/>
          <a:lstStyle/>
          <a:p>
            <a:fld id="{294A09A9-5501-47C1-A89A-A340965A2BE2}" type="slidenum">
              <a:rPr lang="en-US" smtClean="0"/>
              <a:pPr/>
              <a:t>4</a:t>
            </a:fld>
            <a:endParaRPr lang="en-US"/>
          </a:p>
        </p:txBody>
      </p:sp>
      <p:sp>
        <p:nvSpPr>
          <p:cNvPr id="4" name="Title 3">
            <a:extLst>
              <a:ext uri="{FF2B5EF4-FFF2-40B4-BE49-F238E27FC236}">
                <a16:creationId xmlns:a16="http://schemas.microsoft.com/office/drawing/2014/main" id="{3D47BD2F-A625-C490-58E4-6145348CDBB1}"/>
              </a:ext>
            </a:extLst>
          </p:cNvPr>
          <p:cNvSpPr>
            <a:spLocks noGrp="1"/>
          </p:cNvSpPr>
          <p:nvPr>
            <p:ph type="title"/>
          </p:nvPr>
        </p:nvSpPr>
        <p:spPr>
          <a:xfrm>
            <a:off x="857826" y="413933"/>
            <a:ext cx="8878824" cy="1069848"/>
          </a:xfrm>
        </p:spPr>
        <p:txBody>
          <a:bodyPr/>
          <a:lstStyle/>
          <a:p>
            <a:r>
              <a:rPr lang="en-US"/>
              <a:t>PROJECT WORKFLOW</a:t>
            </a:r>
          </a:p>
        </p:txBody>
      </p:sp>
      <p:sp>
        <p:nvSpPr>
          <p:cNvPr id="5" name="Content Placeholder 4">
            <a:extLst>
              <a:ext uri="{FF2B5EF4-FFF2-40B4-BE49-F238E27FC236}">
                <a16:creationId xmlns:a16="http://schemas.microsoft.com/office/drawing/2014/main" id="{91987143-367E-58BB-D922-12A7C3821D5F}"/>
              </a:ext>
            </a:extLst>
          </p:cNvPr>
          <p:cNvSpPr>
            <a:spLocks noGrp="1"/>
          </p:cNvSpPr>
          <p:nvPr>
            <p:ph idx="1"/>
          </p:nvPr>
        </p:nvSpPr>
        <p:spPr>
          <a:xfrm>
            <a:off x="857826" y="1590238"/>
            <a:ext cx="6738087" cy="4286305"/>
          </a:xfrm>
        </p:spPr>
        <p:txBody>
          <a:bodyPr vert="horz" lIns="91440" tIns="45720" rIns="91440" bIns="45720" rtlCol="0" anchor="t">
            <a:noAutofit/>
          </a:bodyPr>
          <a:lstStyle/>
          <a:p>
            <a:pPr marL="0" indent="0">
              <a:buNone/>
            </a:pPr>
            <a:r>
              <a:rPr lang="en-US" sz="1800" b="1">
                <a:cs typeface="Segoe UI"/>
              </a:rPr>
              <a:t>End-to-End Analytics Approach:</a:t>
            </a:r>
          </a:p>
          <a:p>
            <a:pPr marL="347345" indent="-347345">
              <a:lnSpc>
                <a:spcPct val="100000"/>
              </a:lnSpc>
            </a:pPr>
            <a:r>
              <a:rPr lang="en-US" sz="1800">
                <a:cs typeface="Segoe UI"/>
              </a:rPr>
              <a:t>Business Understanding: Identify profit levers &amp; key concerns.</a:t>
            </a:r>
          </a:p>
          <a:p>
            <a:pPr marL="347345" indent="-347345">
              <a:lnSpc>
                <a:spcPct val="100000"/>
              </a:lnSpc>
            </a:pPr>
            <a:r>
              <a:rPr lang="en-US" sz="1800">
                <a:cs typeface="Segoe UI Light"/>
              </a:rPr>
              <a:t>Data Understanding: Explore LEGO product dataset (2018–2020).</a:t>
            </a:r>
            <a:endParaRPr lang="en-US" sz="1800"/>
          </a:p>
          <a:p>
            <a:pPr marL="347345" indent="-347345">
              <a:lnSpc>
                <a:spcPct val="100000"/>
              </a:lnSpc>
            </a:pPr>
            <a:r>
              <a:rPr lang="en-US" sz="1800">
                <a:cs typeface="Segoe UI Light"/>
              </a:rPr>
              <a:t>Data Preparation: Clean, transform, and engineer new variables.</a:t>
            </a:r>
            <a:endParaRPr lang="en-US" sz="1800"/>
          </a:p>
          <a:p>
            <a:pPr marL="347345" indent="-347345">
              <a:lnSpc>
                <a:spcPct val="100000"/>
              </a:lnSpc>
            </a:pPr>
            <a:r>
              <a:rPr lang="en-US" sz="1800">
                <a:cs typeface="Segoe UI Light"/>
              </a:rPr>
              <a:t>Analysis &amp; Modeling: Visualize trends, build metrics, and test relationships.</a:t>
            </a:r>
            <a:endParaRPr lang="en-US" sz="1800"/>
          </a:p>
          <a:p>
            <a:pPr marL="347345" indent="-347345">
              <a:lnSpc>
                <a:spcPct val="100000"/>
              </a:lnSpc>
            </a:pPr>
            <a:r>
              <a:rPr lang="en-US" sz="1800">
                <a:cs typeface="Segoe UI Light"/>
              </a:rPr>
              <a:t>Recommendations: Evidence-based actions for LEGO leadership.</a:t>
            </a:r>
            <a:endParaRPr lang="en-US" sz="1800"/>
          </a:p>
          <a:p>
            <a:pPr marL="347345" indent="-347345">
              <a:lnSpc>
                <a:spcPct val="100000"/>
              </a:lnSpc>
            </a:pPr>
            <a:r>
              <a:rPr lang="en-US" sz="1800">
                <a:cs typeface="Segoe UI Light"/>
              </a:rPr>
              <a:t>Prototype: Early-stage model/dashboard supporting our insights.</a:t>
            </a:r>
            <a:endParaRPr lang="en-US" sz="1800"/>
          </a:p>
          <a:p>
            <a:pPr marL="0" indent="0">
              <a:lnSpc>
                <a:spcPct val="100000"/>
              </a:lnSpc>
              <a:buNone/>
            </a:pPr>
            <a:r>
              <a:rPr lang="en-US" sz="1800" b="1">
                <a:cs typeface="Segoe UI Light"/>
              </a:rPr>
              <a:t>Dataset Used:</a:t>
            </a:r>
          </a:p>
          <a:p>
            <a:pPr marL="347345" indent="-347345">
              <a:lnSpc>
                <a:spcPct val="100000"/>
              </a:lnSpc>
            </a:pPr>
            <a:r>
              <a:rPr lang="en-US" sz="1800">
                <a:cs typeface="Segoe UI Light"/>
              </a:rPr>
              <a:t>LEGO Population Dataset</a:t>
            </a:r>
            <a:br>
              <a:rPr lang="en-US" sz="1800">
                <a:cs typeface="Segoe UI Light"/>
              </a:rPr>
            </a:br>
            <a:r>
              <a:rPr lang="en-US" sz="1800">
                <a:cs typeface="Segoe UI Light"/>
              </a:rPr>
              <a:t> Source: Peterson &amp; Ziegler (2021)</a:t>
            </a:r>
          </a:p>
          <a:p>
            <a:pPr marL="347345" indent="-347345"/>
            <a:endParaRPr lang="en-US" sz="1800"/>
          </a:p>
          <a:p>
            <a:pPr marL="347345" indent="-347345"/>
            <a:endParaRPr lang="en-US" sz="1800"/>
          </a:p>
        </p:txBody>
      </p:sp>
    </p:spTree>
    <p:extLst>
      <p:ext uri="{BB962C8B-B14F-4D97-AF65-F5344CB8AC3E}">
        <p14:creationId xmlns:p14="http://schemas.microsoft.com/office/powerpoint/2010/main" val="937328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3ECDF-8AAA-AA24-796F-F688163A9F7C}"/>
              </a:ext>
            </a:extLst>
          </p:cNvPr>
          <p:cNvSpPr>
            <a:spLocks noGrp="1"/>
          </p:cNvSpPr>
          <p:nvPr>
            <p:ph type="title"/>
          </p:nvPr>
        </p:nvSpPr>
        <p:spPr>
          <a:xfrm>
            <a:off x="1545336" y="822960"/>
            <a:ext cx="8878824" cy="1069848"/>
          </a:xfrm>
        </p:spPr>
        <p:txBody>
          <a:bodyPr vert="horz" lIns="91440" tIns="45720" rIns="91440" bIns="45720" rtlCol="0" anchor="b">
            <a:normAutofit/>
          </a:bodyPr>
          <a:lstStyle/>
          <a:p>
            <a:r>
              <a:rPr lang="en-US" b="1" kern="1200" cap="all" spc="600" baseline="0">
                <a:latin typeface="+mj-lt"/>
                <a:ea typeface="+mj-ea"/>
                <a:cs typeface="+mj-cs"/>
              </a:rPr>
              <a:t>Questions OF INTEREST</a:t>
            </a:r>
          </a:p>
        </p:txBody>
      </p:sp>
      <p:sp>
        <p:nvSpPr>
          <p:cNvPr id="12" name="Text Placeholder 2">
            <a:extLst>
              <a:ext uri="{FF2B5EF4-FFF2-40B4-BE49-F238E27FC236}">
                <a16:creationId xmlns:a16="http://schemas.microsoft.com/office/drawing/2014/main" id="{E92B8C83-8650-110C-9BEC-14B1F0963ED5}"/>
              </a:ext>
            </a:extLst>
          </p:cNvPr>
          <p:cNvSpPr>
            <a:spLocks noGrp="1"/>
          </p:cNvSpPr>
          <p:nvPr>
            <p:ph type="body" idx="1"/>
          </p:nvPr>
        </p:nvSpPr>
        <p:spPr>
          <a:xfrm>
            <a:off x="1536192" y="2185416"/>
            <a:ext cx="3621024" cy="493776"/>
          </a:xfrm>
        </p:spPr>
        <p:txBody>
          <a:bodyPr/>
          <a:lstStyle/>
          <a:p>
            <a:r>
              <a:rPr lang="en-US" sz="1800">
                <a:latin typeface="Segoe UI Light"/>
                <a:cs typeface="Segoe UI Light"/>
              </a:rPr>
              <a:t>GROUP RESEARCH QUESTIONS</a:t>
            </a:r>
            <a:endParaRPr lang="en-US" sz="1800"/>
          </a:p>
        </p:txBody>
      </p:sp>
      <p:sp>
        <p:nvSpPr>
          <p:cNvPr id="5" name="Content Placeholder 4">
            <a:extLst>
              <a:ext uri="{FF2B5EF4-FFF2-40B4-BE49-F238E27FC236}">
                <a16:creationId xmlns:a16="http://schemas.microsoft.com/office/drawing/2014/main" id="{CCD6605F-8E41-FA59-B84E-A821329083DD}"/>
              </a:ext>
            </a:extLst>
          </p:cNvPr>
          <p:cNvSpPr>
            <a:spLocks noGrp="1"/>
          </p:cNvSpPr>
          <p:nvPr>
            <p:ph sz="half" idx="2"/>
          </p:nvPr>
        </p:nvSpPr>
        <p:spPr>
          <a:xfrm>
            <a:off x="1341046" y="2427249"/>
            <a:ext cx="3621024" cy="2578608"/>
          </a:xfrm>
        </p:spPr>
        <p:txBody>
          <a:bodyPr vert="horz" lIns="91440" tIns="45720" rIns="91440" bIns="45720" rtlCol="0" anchor="t">
            <a:noAutofit/>
          </a:bodyPr>
          <a:lstStyle/>
          <a:p>
            <a:pPr marL="0" indent="0">
              <a:buNone/>
            </a:pPr>
            <a:endParaRPr lang="en-US" sz="1600" b="1"/>
          </a:p>
          <a:p>
            <a:pPr marL="457200"/>
            <a:r>
              <a:rPr lang="en-US" sz="1600">
                <a:cs typeface="Segoe UI"/>
              </a:rPr>
              <a:t>How price-per-piece changes over time</a:t>
            </a:r>
          </a:p>
          <a:p>
            <a:pPr marL="457200"/>
            <a:r>
              <a:rPr lang="en-US" sz="1600">
                <a:cs typeface="Segoe UI"/>
              </a:rPr>
              <a:t>How pricing varies by age group</a:t>
            </a:r>
          </a:p>
          <a:p>
            <a:pPr marL="457200"/>
            <a:r>
              <a:rPr lang="en-US" sz="1600">
                <a:cs typeface="Segoe UI"/>
              </a:rPr>
              <a:t>Which themes offer best value</a:t>
            </a:r>
          </a:p>
          <a:p>
            <a:pPr marL="457200"/>
            <a:r>
              <a:rPr lang="en-US" sz="1600">
                <a:cs typeface="Segoe UI"/>
              </a:rPr>
              <a:t>Do sets with more piece's cost less per piece? </a:t>
            </a:r>
          </a:p>
          <a:p>
            <a:pPr marL="457200"/>
            <a:r>
              <a:rPr lang="en-US" sz="1600">
                <a:cs typeface="Segoe UI"/>
              </a:rPr>
              <a:t>How Small/Medium/Large sets differ</a:t>
            </a:r>
          </a:p>
          <a:p>
            <a:pPr marL="347345"/>
            <a:endParaRPr lang="en-US" sz="1600"/>
          </a:p>
        </p:txBody>
      </p:sp>
      <p:sp>
        <p:nvSpPr>
          <p:cNvPr id="14" name="Text Placeholder 4">
            <a:extLst>
              <a:ext uri="{FF2B5EF4-FFF2-40B4-BE49-F238E27FC236}">
                <a16:creationId xmlns:a16="http://schemas.microsoft.com/office/drawing/2014/main" id="{EDD023F4-953E-3B6D-0DED-C44944AEC061}"/>
              </a:ext>
            </a:extLst>
          </p:cNvPr>
          <p:cNvSpPr>
            <a:spLocks noGrp="1"/>
          </p:cNvSpPr>
          <p:nvPr>
            <p:ph type="body" sz="quarter" idx="3"/>
          </p:nvPr>
        </p:nvSpPr>
        <p:spPr>
          <a:xfrm>
            <a:off x="5541264" y="2185416"/>
            <a:ext cx="3621024" cy="493776"/>
          </a:xfrm>
        </p:spPr>
        <p:txBody>
          <a:bodyPr/>
          <a:lstStyle/>
          <a:p>
            <a:r>
              <a:rPr lang="en-US" sz="1800">
                <a:latin typeface="Segoe UI Light"/>
                <a:cs typeface="Segoe UI Light"/>
              </a:rPr>
              <a:t>PURPOSE</a:t>
            </a:r>
            <a:endParaRPr lang="en-US"/>
          </a:p>
        </p:txBody>
      </p:sp>
      <p:sp>
        <p:nvSpPr>
          <p:cNvPr id="7" name="Content Placeholder 4">
            <a:extLst>
              <a:ext uri="{FF2B5EF4-FFF2-40B4-BE49-F238E27FC236}">
                <a16:creationId xmlns:a16="http://schemas.microsoft.com/office/drawing/2014/main" id="{0726DF52-D96D-C1D0-A4F6-204B5F94F5DB}"/>
              </a:ext>
            </a:extLst>
          </p:cNvPr>
          <p:cNvSpPr txBox="1">
            <a:spLocks/>
          </p:cNvSpPr>
          <p:nvPr/>
        </p:nvSpPr>
        <p:spPr>
          <a:xfrm>
            <a:off x="5420459" y="2427249"/>
            <a:ext cx="3621024" cy="2578608"/>
          </a:xfrm>
          <a:prstGeom prst="rect">
            <a:avLst/>
          </a:prstGeom>
        </p:spPr>
        <p:txBody>
          <a:bodyPr vert="horz" lIns="91440" tIns="45720" rIns="91440" bIns="45720" rtlCol="0" anchor="t">
            <a:normAutofit/>
          </a:bodyPr>
          <a:lstStyle>
            <a:lvl1pPr marL="347472" indent="-347472" algn="l" defTabSz="914400" rtl="0" eaLnBrk="1" latinLnBrk="0" hangingPunct="1">
              <a:lnSpc>
                <a:spcPct val="150000"/>
              </a:lnSpc>
              <a:spcBef>
                <a:spcPts val="10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None/>
            </a:pPr>
            <a:endParaRPr lang="en-US" sz="1600" b="1"/>
          </a:p>
          <a:p>
            <a:pPr marL="228600" indent="-228600">
              <a:lnSpc>
                <a:spcPct val="90000"/>
              </a:lnSpc>
            </a:pPr>
            <a:r>
              <a:rPr lang="en-US" sz="1600">
                <a:cs typeface="Segoe UI"/>
              </a:rPr>
              <a:t>Uncover pricing patterns</a:t>
            </a:r>
          </a:p>
          <a:p>
            <a:pPr marL="228600" indent="-228600">
              <a:lnSpc>
                <a:spcPct val="90000"/>
              </a:lnSpc>
            </a:pPr>
            <a:r>
              <a:rPr lang="en-US" sz="1600">
                <a:cs typeface="Segoe UI"/>
              </a:rPr>
              <a:t>Evaluate value per piece across segments.</a:t>
            </a:r>
          </a:p>
          <a:p>
            <a:pPr marL="228600" indent="-228600">
              <a:lnSpc>
                <a:spcPct val="90000"/>
              </a:lnSpc>
            </a:pPr>
            <a:r>
              <a:rPr lang="en-US" sz="1600">
                <a:cs typeface="Segoe UI"/>
              </a:rPr>
              <a:t>Understand cost-to-complexity relationships.</a:t>
            </a:r>
          </a:p>
          <a:p>
            <a:pPr marL="228600" indent="-228600">
              <a:lnSpc>
                <a:spcPct val="90000"/>
              </a:lnSpc>
            </a:pPr>
            <a:r>
              <a:rPr lang="en-US" sz="1600">
                <a:cs typeface="Segoe UI"/>
              </a:rPr>
              <a:t>Support strategic pricing and product decisions.</a:t>
            </a:r>
          </a:p>
        </p:txBody>
      </p:sp>
      <p:sp>
        <p:nvSpPr>
          <p:cNvPr id="2" name="Slide Number Placeholder 1">
            <a:extLst>
              <a:ext uri="{FF2B5EF4-FFF2-40B4-BE49-F238E27FC236}">
                <a16:creationId xmlns:a16="http://schemas.microsoft.com/office/drawing/2014/main" id="{06251F1F-4DF2-D2C7-3C12-CBCC2DAC72F7}"/>
              </a:ext>
            </a:extLst>
          </p:cNvPr>
          <p:cNvSpPr>
            <a:spLocks noGrp="1"/>
          </p:cNvSpPr>
          <p:nvPr>
            <p:ph type="sldNum" sz="quarter" idx="12"/>
          </p:nvPr>
        </p:nvSpPr>
        <p:spPr>
          <a:xfrm>
            <a:off x="329184" y="411480"/>
            <a:ext cx="521208" cy="310896"/>
          </a:xfrm>
        </p:spPr>
        <p:txBody>
          <a:bodyPr vert="horz" lIns="91440" tIns="45720" rIns="91440" bIns="45720" rtlCol="0" anchor="ctr">
            <a:normAutofit/>
          </a:bodyPr>
          <a:lstStyle/>
          <a:p>
            <a:pPr>
              <a:spcAft>
                <a:spcPts val="600"/>
              </a:spcAft>
            </a:pPr>
            <a:fld id="{294A09A9-5501-47C1-A89A-A340965A2BE2}" type="slidenum">
              <a:rPr lang="en-US" smtClean="0"/>
              <a:pPr>
                <a:spcAft>
                  <a:spcPts val="600"/>
                </a:spcAft>
              </a:pPr>
              <a:t>5</a:t>
            </a:fld>
            <a:endParaRPr lang="en-US"/>
          </a:p>
        </p:txBody>
      </p:sp>
    </p:spTree>
    <p:extLst>
      <p:ext uri="{BB962C8B-B14F-4D97-AF65-F5344CB8AC3E}">
        <p14:creationId xmlns:p14="http://schemas.microsoft.com/office/powerpoint/2010/main" val="101099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652621" y="1181112"/>
            <a:ext cx="10881360" cy="1069848"/>
          </a:xfrm>
        </p:spPr>
        <p:txBody>
          <a:bodyPr/>
          <a:lstStyle/>
          <a:p>
            <a:r>
              <a:rPr lang="en-US"/>
              <a:t>How Have LEGO Prices Changed Over Time?</a:t>
            </a:r>
          </a:p>
          <a:p>
            <a:endParaRPr lang="en-US" sz="4000" b="1" spc="600">
              <a:ln w="28575">
                <a:noFill/>
                <a:prstDash val="solid"/>
              </a:ln>
              <a:latin typeface="Tw Cen MT" panose="020B0602020104020603" pitchFamily="34" charset="77"/>
            </a:endParaRP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fld id="{294A09A9-5501-47C1-A89A-A340965A2BE2}" type="slidenum">
              <a:rPr lang="en-US" smtClean="0"/>
              <a:pPr/>
              <a:t>6</a:t>
            </a:fld>
            <a:endParaRPr lang="en-US"/>
          </a:p>
        </p:txBody>
      </p:sp>
      <p:sp>
        <p:nvSpPr>
          <p:cNvPr id="7" name="Content Placeholder 6">
            <a:extLst>
              <a:ext uri="{FF2B5EF4-FFF2-40B4-BE49-F238E27FC236}">
                <a16:creationId xmlns:a16="http://schemas.microsoft.com/office/drawing/2014/main" id="{386768C1-4754-C447-42D8-45C4CE44B8BC}"/>
              </a:ext>
            </a:extLst>
          </p:cNvPr>
          <p:cNvSpPr>
            <a:spLocks noGrp="1"/>
          </p:cNvSpPr>
          <p:nvPr>
            <p:ph idx="1"/>
          </p:nvPr>
        </p:nvSpPr>
        <p:spPr>
          <a:xfrm>
            <a:off x="1014984" y="2474604"/>
            <a:ext cx="10332720" cy="3547872"/>
          </a:xfrm>
        </p:spPr>
        <p:txBody>
          <a:bodyPr vert="horz" lIns="91440" tIns="45720" rIns="91440" bIns="45720" rtlCol="0" anchor="t">
            <a:noAutofit/>
          </a:bodyPr>
          <a:lstStyle/>
          <a:p>
            <a:pPr marL="0" indent="0">
              <a:buNone/>
            </a:pPr>
            <a:r>
              <a:rPr lang="en-US" sz="2400" b="1" i="1">
                <a:ea typeface="+mn-lt"/>
                <a:cs typeface="+mn-lt"/>
              </a:rPr>
              <a:t>Why this matters:</a:t>
            </a:r>
            <a:endParaRPr lang="en-US" sz="2400" b="1" i="1"/>
          </a:p>
          <a:p>
            <a:pPr indent="-347345"/>
            <a:r>
              <a:rPr lang="en-US" sz="2000">
                <a:ea typeface="+mn-lt"/>
                <a:cs typeface="+mn-lt"/>
              </a:rPr>
              <a:t>LEGO pricing affects how consumers judge value</a:t>
            </a:r>
            <a:endParaRPr lang="en-US" sz="2000"/>
          </a:p>
          <a:p>
            <a:pPr indent="-347345"/>
            <a:r>
              <a:rPr lang="en-US" sz="2000">
                <a:ea typeface="+mn-lt"/>
                <a:cs typeface="+mn-lt"/>
              </a:rPr>
              <a:t>Tracking price changes helps explain demand, marketing strategy, and product evolution</a:t>
            </a:r>
            <a:endParaRPr lang="en-US" sz="2000"/>
          </a:p>
          <a:p>
            <a:pPr indent="-347345"/>
            <a:r>
              <a:rPr lang="en-US" sz="2000">
                <a:ea typeface="+mn-lt"/>
                <a:cs typeface="+mn-lt"/>
              </a:rPr>
              <a:t>Understanding trends helps predict future pricing and consumer behavior</a:t>
            </a:r>
            <a:endParaRPr lang="en-US" sz="2000"/>
          </a:p>
          <a:p>
            <a:pPr marL="0" indent="0">
              <a:buNone/>
            </a:pPr>
            <a:endParaRPr lang="en-US"/>
          </a:p>
          <a:p>
            <a:pPr indent="-347345">
              <a:buNone/>
            </a:pPr>
            <a:r>
              <a:rPr lang="en-US" sz="2400" b="1" i="1">
                <a:ea typeface="+mn-lt"/>
                <a:cs typeface="+mn-lt"/>
              </a:rPr>
              <a:t>Key insight:</a:t>
            </a:r>
            <a:endParaRPr lang="en-US" sz="2000">
              <a:ea typeface="+mn-lt"/>
              <a:cs typeface="+mn-lt"/>
            </a:endParaRPr>
          </a:p>
          <a:p>
            <a:pPr indent="-347345">
              <a:buNone/>
            </a:pPr>
            <a:r>
              <a:rPr lang="en-US" sz="2000" b="1">
                <a:ea typeface="+mn-lt"/>
                <a:cs typeface="+mn-lt"/>
              </a:rPr>
              <a:t> </a:t>
            </a:r>
            <a:r>
              <a:rPr lang="en-US" sz="2000" i="1">
                <a:ea typeface="+mn-lt"/>
                <a:cs typeface="+mn-lt"/>
              </a:rPr>
              <a:t>LEGO prices rose sharply in 2019 and stayed higher than 2018 overall.</a:t>
            </a:r>
            <a:endParaRPr lang="en-US" sz="2000">
              <a:ea typeface="+mn-lt"/>
              <a:cs typeface="+mn-lt"/>
            </a:endParaRPr>
          </a:p>
          <a:p>
            <a:pPr marL="0" indent="0">
              <a:buNone/>
            </a:pPr>
            <a:endParaRPr lang="en-US"/>
          </a:p>
        </p:txBody>
      </p:sp>
    </p:spTree>
    <p:extLst>
      <p:ext uri="{BB962C8B-B14F-4D97-AF65-F5344CB8AC3E}">
        <p14:creationId xmlns:p14="http://schemas.microsoft.com/office/powerpoint/2010/main" val="1372651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1098804" y="645967"/>
            <a:ext cx="9994392" cy="1069848"/>
          </a:xfrm>
        </p:spPr>
        <p:txBody>
          <a:bodyPr/>
          <a:lstStyle/>
          <a:p>
            <a:r>
              <a:rPr lang="en-US" b="0">
                <a:ln w="28575">
                  <a:noFill/>
                  <a:prstDash val="solid"/>
                </a:ln>
                <a:ea typeface="+mj-lt"/>
                <a:cs typeface="+mj-lt"/>
              </a:rPr>
              <a:t>Dataset &amp; Method</a:t>
            </a:r>
            <a:endParaRPr lang="en-US"/>
          </a:p>
        </p:txBody>
      </p:sp>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7</a:t>
            </a:fld>
            <a:endParaRPr lang="en-US"/>
          </a:p>
        </p:txBody>
      </p:sp>
      <p:sp>
        <p:nvSpPr>
          <p:cNvPr id="7" name="Content Placeholder 6">
            <a:extLst>
              <a:ext uri="{FF2B5EF4-FFF2-40B4-BE49-F238E27FC236}">
                <a16:creationId xmlns:a16="http://schemas.microsoft.com/office/drawing/2014/main" id="{6E803235-89B3-A2C7-446D-B877C69552A3}"/>
              </a:ext>
            </a:extLst>
          </p:cNvPr>
          <p:cNvSpPr>
            <a:spLocks noGrp="1"/>
          </p:cNvSpPr>
          <p:nvPr>
            <p:ph idx="1"/>
          </p:nvPr>
        </p:nvSpPr>
        <p:spPr/>
        <p:txBody>
          <a:bodyPr vert="horz" lIns="91440" tIns="45720" rIns="91440" bIns="45720" rtlCol="0" anchor="t">
            <a:noAutofit/>
          </a:bodyPr>
          <a:lstStyle/>
          <a:p>
            <a:pPr marL="0" indent="0">
              <a:buNone/>
            </a:pPr>
            <a:r>
              <a:rPr lang="en-US" sz="1800" b="1" i="1">
                <a:ea typeface="+mn-lt"/>
                <a:cs typeface="+mn-lt"/>
              </a:rPr>
              <a:t>Key Question:</a:t>
            </a:r>
            <a:endParaRPr lang="en-US" sz="1800" b="1" i="1">
              <a:ea typeface="+mn-lt"/>
            </a:endParaRPr>
          </a:p>
          <a:p>
            <a:pPr indent="-347345">
              <a:buFont typeface="Wingdings" panose="02070309020205020404" pitchFamily="49" charset="0"/>
              <a:buChar char="q"/>
            </a:pPr>
            <a:r>
              <a:rPr lang="en-US" sz="1800" b="1">
                <a:ea typeface="+mn-lt"/>
                <a:cs typeface="+mn-lt"/>
              </a:rPr>
              <a:t>Are newer LEGO sets getting more expensive over time?</a:t>
            </a:r>
            <a:endParaRPr lang="en-US" sz="1800"/>
          </a:p>
          <a:p>
            <a:pPr marL="0" indent="0">
              <a:buNone/>
            </a:pPr>
            <a:r>
              <a:rPr lang="en-US" sz="1800" b="1" i="1">
                <a:ea typeface="+mn-lt"/>
                <a:cs typeface="+mn-lt"/>
              </a:rPr>
              <a:t>What we analyzed:</a:t>
            </a:r>
            <a:endParaRPr lang="en-US" sz="1800" b="1" i="1"/>
          </a:p>
          <a:p>
            <a:pPr indent="-347345">
              <a:buFont typeface="Wingdings" panose="02070309020205020404" pitchFamily="49" charset="0"/>
              <a:buChar char="q"/>
            </a:pPr>
            <a:r>
              <a:rPr lang="en-US" sz="1800">
                <a:ea typeface="+mn-lt"/>
                <a:cs typeface="+mn-lt"/>
              </a:rPr>
              <a:t>LEGO data from </a:t>
            </a:r>
            <a:r>
              <a:rPr lang="en-US" sz="1800" b="1">
                <a:ea typeface="+mn-lt"/>
                <a:cs typeface="+mn-lt"/>
              </a:rPr>
              <a:t>2018, 2019, and 2020</a:t>
            </a:r>
            <a:endParaRPr lang="en-US" sz="1800"/>
          </a:p>
          <a:p>
            <a:pPr indent="-347345">
              <a:buFont typeface="Wingdings" panose="02070309020205020404" pitchFamily="49" charset="0"/>
              <a:buChar char="q"/>
            </a:pPr>
            <a:r>
              <a:rPr lang="en-US" sz="1800">
                <a:ea typeface="+mn-lt"/>
                <a:cs typeface="+mn-lt"/>
              </a:rPr>
              <a:t>Removed missing values (clean dataset)</a:t>
            </a:r>
            <a:endParaRPr lang="en-US" sz="1800">
              <a:ea typeface="+mn-lt"/>
            </a:endParaRPr>
          </a:p>
          <a:p>
            <a:pPr indent="-347345">
              <a:buFont typeface="Wingdings" panose="02070309020205020404" pitchFamily="49" charset="0"/>
              <a:buChar char="q"/>
            </a:pPr>
            <a:r>
              <a:rPr lang="en-US" sz="1800">
                <a:ea typeface="+mn-lt"/>
                <a:cs typeface="+mn-lt"/>
              </a:rPr>
              <a:t>Calculated: </a:t>
            </a:r>
            <a:endParaRPr lang="en-US" sz="1800">
              <a:ea typeface="+mn-lt"/>
            </a:endParaRPr>
          </a:p>
          <a:p>
            <a:pPr marL="0" indent="0">
              <a:buNone/>
            </a:pPr>
            <a:r>
              <a:rPr lang="en-US" sz="1800" b="1">
                <a:ea typeface="+mn-lt"/>
                <a:cs typeface="+mn-lt"/>
              </a:rPr>
              <a:t>     1. Average set price per year</a:t>
            </a:r>
            <a:endParaRPr lang="en-US" sz="1800">
              <a:ea typeface="+mn-lt"/>
            </a:endParaRPr>
          </a:p>
          <a:p>
            <a:pPr marL="0" indent="0">
              <a:buNone/>
            </a:pPr>
            <a:r>
              <a:rPr lang="en-US" sz="1800" b="1">
                <a:ea typeface="+mn-lt"/>
                <a:cs typeface="+mn-lt"/>
              </a:rPr>
              <a:t>  2. Average price per piece per year</a:t>
            </a:r>
            <a:endParaRPr lang="en-US" sz="1800"/>
          </a:p>
          <a:p>
            <a:pPr indent="-347345">
              <a:buFont typeface="Wingdings" panose="02070309020205020404" pitchFamily="49" charset="0"/>
              <a:buChar char="q"/>
            </a:pPr>
            <a:r>
              <a:rPr lang="en-US" sz="1800">
                <a:ea typeface="+mn-lt"/>
                <a:cs typeface="+mn-lt"/>
              </a:rPr>
              <a:t> Visualized both trends using line graphs</a:t>
            </a:r>
            <a:endParaRPr lang="en-US" sz="1800"/>
          </a:p>
          <a:p>
            <a:pPr indent="-347345">
              <a:buFont typeface="Wingdings" panose="02070309020205020404" pitchFamily="49" charset="0"/>
              <a:buChar char="q"/>
            </a:pPr>
            <a:endParaRPr lang="en-US" sz="1800"/>
          </a:p>
        </p:txBody>
      </p:sp>
    </p:spTree>
    <p:extLst>
      <p:ext uri="{BB962C8B-B14F-4D97-AF65-F5344CB8AC3E}">
        <p14:creationId xmlns:p14="http://schemas.microsoft.com/office/powerpoint/2010/main" val="1208724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090D-C862-CF85-1001-A82E54365597}"/>
              </a:ext>
            </a:extLst>
          </p:cNvPr>
          <p:cNvSpPr>
            <a:spLocks noGrp="1"/>
          </p:cNvSpPr>
          <p:nvPr>
            <p:ph type="title"/>
          </p:nvPr>
        </p:nvSpPr>
        <p:spPr>
          <a:xfrm>
            <a:off x="850392" y="832104"/>
            <a:ext cx="10881360" cy="1069848"/>
          </a:xfrm>
        </p:spPr>
        <p:txBody>
          <a:bodyPr anchor="ctr">
            <a:normAutofit/>
          </a:bodyPr>
          <a:lstStyle/>
          <a:p>
            <a:r>
              <a:rPr lang="en-US" sz="3700"/>
              <a:t>Findings (Average Price per Year)</a:t>
            </a:r>
          </a:p>
        </p:txBody>
      </p:sp>
      <p:pic>
        <p:nvPicPr>
          <p:cNvPr id="10" name="Picture 9" descr="A graph with a line going up&#10;&#10;AI-generated content may be incorrect.">
            <a:extLst>
              <a:ext uri="{FF2B5EF4-FFF2-40B4-BE49-F238E27FC236}">
                <a16:creationId xmlns:a16="http://schemas.microsoft.com/office/drawing/2014/main" id="{04938544-52F3-9523-6D9C-385B93DB1CDB}"/>
              </a:ext>
            </a:extLst>
          </p:cNvPr>
          <p:cNvPicPr>
            <a:picLocks noChangeAspect="1"/>
          </p:cNvPicPr>
          <p:nvPr/>
        </p:nvPicPr>
        <p:blipFill>
          <a:blip r:embed="rId2"/>
          <a:stretch>
            <a:fillRect/>
          </a:stretch>
        </p:blipFill>
        <p:spPr>
          <a:xfrm>
            <a:off x="697638" y="2310054"/>
            <a:ext cx="5470123" cy="3182731"/>
          </a:xfrm>
          <a:prstGeom prst="rect">
            <a:avLst/>
          </a:prstGeom>
          <a:noFill/>
        </p:spPr>
      </p:pic>
      <p:sp>
        <p:nvSpPr>
          <p:cNvPr id="3" name="Subtitle 2">
            <a:extLst>
              <a:ext uri="{FF2B5EF4-FFF2-40B4-BE49-F238E27FC236}">
                <a16:creationId xmlns:a16="http://schemas.microsoft.com/office/drawing/2014/main" id="{4CE82C04-6445-9E02-B0E8-8D809278C37D}"/>
              </a:ext>
            </a:extLst>
          </p:cNvPr>
          <p:cNvSpPr>
            <a:spLocks noGrp="1"/>
          </p:cNvSpPr>
          <p:nvPr>
            <p:ph sz="half" idx="2"/>
          </p:nvPr>
        </p:nvSpPr>
        <p:spPr>
          <a:xfrm>
            <a:off x="6749249" y="1980984"/>
            <a:ext cx="5181600" cy="4351338"/>
          </a:xfrm>
        </p:spPr>
        <p:txBody>
          <a:bodyPr vert="horz" lIns="91440" tIns="45720" rIns="91440" bIns="45720" rtlCol="0" anchor="t">
            <a:normAutofit/>
          </a:bodyPr>
          <a:lstStyle/>
          <a:p>
            <a:pPr marL="0" indent="0">
              <a:buNone/>
            </a:pPr>
            <a:r>
              <a:rPr lang="en-US" sz="2000" b="1" i="1">
                <a:cs typeface="Segoe UI"/>
              </a:rPr>
              <a:t> Average Price of LEGO Sets:</a:t>
            </a:r>
            <a:endParaRPr lang="en-US" b="1"/>
          </a:p>
          <a:p>
            <a:pPr marL="285750" indent="-285750">
              <a:buFont typeface="Wingdings"/>
              <a:buChar char="q"/>
            </a:pPr>
            <a:r>
              <a:rPr lang="en-US" sz="1800" b="1">
                <a:cs typeface="Segoe UI"/>
              </a:rPr>
              <a:t>2018:</a:t>
            </a:r>
            <a:r>
              <a:rPr lang="en-US" sz="1800">
                <a:cs typeface="Segoe UI"/>
              </a:rPr>
              <a:t> ~$42.9</a:t>
            </a:r>
          </a:p>
          <a:p>
            <a:pPr marL="285750" indent="-285750">
              <a:buFont typeface="Wingdings"/>
              <a:buChar char="q"/>
            </a:pPr>
            <a:r>
              <a:rPr lang="en-US" sz="1800" b="1">
                <a:cs typeface="Segoe UI"/>
              </a:rPr>
              <a:t>2019:</a:t>
            </a:r>
            <a:r>
              <a:rPr lang="en-US" sz="1800">
                <a:cs typeface="Segoe UI"/>
              </a:rPr>
              <a:t> ~$48.4 (big increase)</a:t>
            </a:r>
          </a:p>
          <a:p>
            <a:pPr marL="285750" indent="-285750">
              <a:buFont typeface="Wingdings"/>
              <a:buChar char="q"/>
            </a:pPr>
            <a:r>
              <a:rPr lang="en-US" sz="1800" b="1">
                <a:cs typeface="Segoe UI"/>
              </a:rPr>
              <a:t>2020:</a:t>
            </a:r>
            <a:r>
              <a:rPr lang="en-US" sz="1800">
                <a:cs typeface="Segoe UI"/>
              </a:rPr>
              <a:t> ~$47.7 (slight decrease)</a:t>
            </a:r>
          </a:p>
          <a:p>
            <a:pPr indent="-347345">
              <a:buFont typeface="Wingdings" panose="02070309020205020404" pitchFamily="49" charset="0"/>
              <a:buChar char="q"/>
            </a:pPr>
            <a:endParaRPr lang="en-US" sz="1800" b="1" i="1"/>
          </a:p>
          <a:p>
            <a:pPr marL="0" indent="0">
              <a:buNone/>
            </a:pPr>
            <a:r>
              <a:rPr lang="en-US" sz="2000" b="1" i="1">
                <a:cs typeface="Segoe UI"/>
              </a:rPr>
              <a:t> Interpretation: </a:t>
            </a:r>
          </a:p>
          <a:p>
            <a:pPr marL="285750" indent="-285750">
              <a:buFont typeface="Wingdings"/>
              <a:buChar char="q"/>
            </a:pPr>
            <a:r>
              <a:rPr lang="en-US" sz="1800">
                <a:cs typeface="Segoe UI"/>
              </a:rPr>
              <a:t>LEGO sets </a:t>
            </a:r>
            <a:r>
              <a:rPr lang="en-US" sz="1800" b="1">
                <a:cs typeface="Segoe UI"/>
              </a:rPr>
              <a:t>became more expensive overall</a:t>
            </a:r>
            <a:endParaRPr lang="en-US" sz="1800">
              <a:cs typeface="Segoe UI"/>
            </a:endParaRPr>
          </a:p>
          <a:p>
            <a:pPr marL="285750" indent="-285750">
              <a:buFont typeface="Wingdings"/>
              <a:buChar char="q"/>
            </a:pPr>
            <a:r>
              <a:rPr lang="en-US" sz="1800">
                <a:cs typeface="Segoe UI"/>
              </a:rPr>
              <a:t>The largest jump happened from </a:t>
            </a:r>
            <a:r>
              <a:rPr lang="en-US" sz="1800" b="1">
                <a:cs typeface="Segoe UI"/>
              </a:rPr>
              <a:t>2018 → 2019</a:t>
            </a:r>
            <a:endParaRPr lang="en-US" sz="1800">
              <a:cs typeface="Segoe UI"/>
            </a:endParaRPr>
          </a:p>
          <a:p>
            <a:pPr marL="285750" indent="-285750">
              <a:buFont typeface="Wingdings"/>
              <a:buChar char="q"/>
            </a:pPr>
            <a:r>
              <a:rPr lang="en-US" sz="1800">
                <a:cs typeface="Segoe UI"/>
              </a:rPr>
              <a:t>Even with the small drop in 2020, prices stayed higher than in 2018</a:t>
            </a:r>
          </a:p>
          <a:p>
            <a:pPr indent="-347345">
              <a:buFont typeface="Wingdings" panose="02070309020205020404" pitchFamily="49" charset="0"/>
              <a:buChar char="q"/>
            </a:pPr>
            <a:endParaRPr lang="en-US" sz="1800"/>
          </a:p>
        </p:txBody>
      </p:sp>
      <p:sp>
        <p:nvSpPr>
          <p:cNvPr id="23" name="Slide Number Placeholder 5">
            <a:extLst>
              <a:ext uri="{FF2B5EF4-FFF2-40B4-BE49-F238E27FC236}">
                <a16:creationId xmlns:a16="http://schemas.microsoft.com/office/drawing/2014/main" id="{E5625D56-48D5-C359-DA22-883BB80D5722}"/>
              </a:ext>
            </a:extLst>
          </p:cNvPr>
          <p:cNvSpPr>
            <a:spLocks noGrp="1"/>
          </p:cNvSpPr>
          <p:nvPr>
            <p:ph type="sldNum" sz="quarter" idx="12"/>
          </p:nvPr>
        </p:nvSpPr>
        <p:spPr>
          <a:xfrm>
            <a:off x="329184" y="411480"/>
            <a:ext cx="521208" cy="310896"/>
          </a:xfrm>
        </p:spPr>
        <p:txBody>
          <a:bodyPr/>
          <a:lstStyle/>
          <a:p>
            <a:pPr>
              <a:spcAft>
                <a:spcPts val="600"/>
              </a:spcAft>
            </a:pPr>
            <a:fld id="{294A09A9-5501-47C1-A89A-A340965A2BE2}" type="slidenum">
              <a:rPr lang="en-US" smtClean="0"/>
              <a:pPr>
                <a:spcAft>
                  <a:spcPts val="600"/>
                </a:spcAft>
              </a:pPr>
              <a:t>8</a:t>
            </a:fld>
            <a:endParaRPr lang="en-US"/>
          </a:p>
        </p:txBody>
      </p:sp>
    </p:spTree>
    <p:extLst>
      <p:ext uri="{BB962C8B-B14F-4D97-AF65-F5344CB8AC3E}">
        <p14:creationId xmlns:p14="http://schemas.microsoft.com/office/powerpoint/2010/main" val="1213210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a:xfrm>
            <a:off x="850392" y="832104"/>
            <a:ext cx="10881360" cy="1069848"/>
          </a:xfrm>
        </p:spPr>
        <p:txBody>
          <a:bodyPr vert="horz" lIns="91440" tIns="45720" rIns="91440" bIns="45720" rtlCol="0" anchor="ctr">
            <a:normAutofit/>
          </a:bodyPr>
          <a:lstStyle/>
          <a:p>
            <a:r>
              <a:rPr lang="en-US" b="1" kern="1200" cap="all" spc="600" baseline="0">
                <a:latin typeface="+mj-lt"/>
                <a:ea typeface="+mj-ea"/>
                <a:cs typeface="+mj-cs"/>
              </a:rPr>
              <a:t>Findings (Price per Piece)</a:t>
            </a:r>
          </a:p>
        </p:txBody>
      </p:sp>
      <p:sp>
        <p:nvSpPr>
          <p:cNvPr id="33" name="TextBox 32">
            <a:extLst>
              <a:ext uri="{FF2B5EF4-FFF2-40B4-BE49-F238E27FC236}">
                <a16:creationId xmlns:a16="http://schemas.microsoft.com/office/drawing/2014/main" id="{29AA4618-EB70-3223-991C-CE984F389AA3}"/>
              </a:ext>
            </a:extLst>
          </p:cNvPr>
          <p:cNvSpPr txBox="1"/>
          <p:nvPr/>
        </p:nvSpPr>
        <p:spPr>
          <a:xfrm>
            <a:off x="838200" y="1825625"/>
            <a:ext cx="5181600" cy="435133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a:lnSpc>
                <a:spcPct val="90000"/>
              </a:lnSpc>
              <a:spcBef>
                <a:spcPts val="1000"/>
              </a:spcBef>
              <a:buClr>
                <a:schemeClr val="accent6"/>
              </a:buClr>
            </a:pPr>
            <a:r>
              <a:rPr lang="en-US" sz="2400" b="1" i="1">
                <a:solidFill>
                  <a:schemeClr val="bg1"/>
                </a:solidFill>
                <a:cs typeface="Segoe UI"/>
              </a:rPr>
              <a:t>Average Price per Piece:</a:t>
            </a:r>
            <a:endParaRPr lang="en-US" sz="2400" b="1">
              <a:solidFill>
                <a:schemeClr val="bg1"/>
              </a:solidFill>
              <a:cs typeface="Segoe UI"/>
            </a:endParaRPr>
          </a:p>
          <a:p>
            <a:pPr marL="228600" indent="-347345">
              <a:lnSpc>
                <a:spcPct val="90000"/>
              </a:lnSpc>
              <a:spcBef>
                <a:spcPts val="1000"/>
              </a:spcBef>
              <a:buClr>
                <a:schemeClr val="accent6"/>
              </a:buClr>
              <a:buFont typeface="Courier New" panose="02070309020205020404" pitchFamily="49" charset="0"/>
              <a:buChar char="o"/>
            </a:pPr>
            <a:r>
              <a:rPr lang="en-US" sz="2000">
                <a:solidFill>
                  <a:schemeClr val="bg1"/>
                </a:solidFill>
                <a:cs typeface="Segoe UI"/>
              </a:rPr>
              <a:t>2018 = lowest price per piece</a:t>
            </a:r>
          </a:p>
          <a:p>
            <a:pPr marL="228600" indent="-347345">
              <a:lnSpc>
                <a:spcPct val="90000"/>
              </a:lnSpc>
              <a:spcBef>
                <a:spcPts val="1000"/>
              </a:spcBef>
              <a:buClr>
                <a:schemeClr val="accent6"/>
              </a:buClr>
              <a:buFont typeface="Courier New" panose="02070309020205020404" pitchFamily="49" charset="0"/>
              <a:buChar char="o"/>
            </a:pPr>
            <a:r>
              <a:rPr lang="en-US" sz="2000">
                <a:solidFill>
                  <a:schemeClr val="bg1"/>
                </a:solidFill>
                <a:cs typeface="Segoe UI"/>
              </a:rPr>
              <a:t>2019 = highest price per piece (worst value)</a:t>
            </a:r>
          </a:p>
          <a:p>
            <a:pPr marL="228600" indent="-347345">
              <a:lnSpc>
                <a:spcPct val="90000"/>
              </a:lnSpc>
              <a:spcBef>
                <a:spcPts val="1000"/>
              </a:spcBef>
              <a:buClr>
                <a:schemeClr val="accent6"/>
              </a:buClr>
              <a:buFont typeface="Courier New" panose="02070309020205020404" pitchFamily="49" charset="0"/>
              <a:buChar char="o"/>
            </a:pPr>
            <a:r>
              <a:rPr lang="en-US" sz="2000">
                <a:solidFill>
                  <a:schemeClr val="bg1"/>
                </a:solidFill>
                <a:cs typeface="Segoe UI"/>
              </a:rPr>
              <a:t>2020 = slight improvement, but still above 2018</a:t>
            </a:r>
          </a:p>
          <a:p>
            <a:pPr marL="228600" indent="-347345">
              <a:lnSpc>
                <a:spcPct val="90000"/>
              </a:lnSpc>
              <a:spcBef>
                <a:spcPts val="1000"/>
              </a:spcBef>
              <a:buClr>
                <a:schemeClr val="accent6"/>
              </a:buClr>
              <a:buFont typeface="Courier New" panose="02070309020205020404" pitchFamily="49" charset="0"/>
              <a:buChar char="o"/>
            </a:pPr>
            <a:endParaRPr lang="en-US" sz="2000">
              <a:solidFill>
                <a:schemeClr val="bg1"/>
              </a:solidFill>
              <a:cs typeface="Segoe UI"/>
            </a:endParaRPr>
          </a:p>
          <a:p>
            <a:pPr>
              <a:lnSpc>
                <a:spcPct val="90000"/>
              </a:lnSpc>
              <a:spcBef>
                <a:spcPts val="1000"/>
              </a:spcBef>
              <a:buClr>
                <a:schemeClr val="accent6"/>
              </a:buClr>
            </a:pPr>
            <a:r>
              <a:rPr lang="en-US" sz="2400" b="1" i="1">
                <a:solidFill>
                  <a:schemeClr val="bg1"/>
                </a:solidFill>
                <a:cs typeface="Segoe UI"/>
              </a:rPr>
              <a:t>Interpretation:</a:t>
            </a:r>
          </a:p>
          <a:p>
            <a:pPr marL="228600" indent="-347345">
              <a:lnSpc>
                <a:spcPct val="90000"/>
              </a:lnSpc>
              <a:spcBef>
                <a:spcPts val="1000"/>
              </a:spcBef>
              <a:buClr>
                <a:schemeClr val="accent6"/>
              </a:buClr>
              <a:buFont typeface="Courier New" panose="02070309020205020404" pitchFamily="49" charset="0"/>
              <a:buChar char="o"/>
            </a:pPr>
            <a:r>
              <a:rPr lang="en-US" sz="2000">
                <a:solidFill>
                  <a:schemeClr val="bg1"/>
                </a:solidFill>
                <a:cs typeface="Segoe UI"/>
              </a:rPr>
              <a:t>LEGO sets did not just get more expensive</a:t>
            </a:r>
            <a:endParaRPr lang="en-US" sz="2000" b="1">
              <a:solidFill>
                <a:schemeClr val="bg1"/>
              </a:solidFill>
              <a:cs typeface="Segoe UI"/>
            </a:endParaRPr>
          </a:p>
          <a:p>
            <a:pPr marL="228600" indent="-347345">
              <a:lnSpc>
                <a:spcPct val="90000"/>
              </a:lnSpc>
              <a:spcBef>
                <a:spcPts val="1000"/>
              </a:spcBef>
              <a:buClr>
                <a:schemeClr val="accent6"/>
              </a:buClr>
              <a:buFont typeface="Courier New" panose="02070309020205020404" pitchFamily="49" charset="0"/>
              <a:buChar char="o"/>
            </a:pPr>
            <a:r>
              <a:rPr lang="en-US" sz="2000" b="1">
                <a:solidFill>
                  <a:schemeClr val="bg1"/>
                </a:solidFill>
                <a:cs typeface="Segoe UI"/>
              </a:rPr>
              <a:t>The value per piece also decreased in 2019</a:t>
            </a:r>
          </a:p>
          <a:p>
            <a:pPr marL="228600" indent="-347345">
              <a:lnSpc>
                <a:spcPct val="90000"/>
              </a:lnSpc>
              <a:spcBef>
                <a:spcPts val="1000"/>
              </a:spcBef>
              <a:buClr>
                <a:schemeClr val="accent6"/>
              </a:buClr>
              <a:buFont typeface="Courier New" panose="02070309020205020404" pitchFamily="49" charset="0"/>
              <a:buChar char="o"/>
            </a:pPr>
            <a:r>
              <a:rPr lang="en-US" sz="2000">
                <a:solidFill>
                  <a:schemeClr val="bg1"/>
                </a:solidFill>
                <a:cs typeface="Segoe UI"/>
              </a:rPr>
              <a:t>2020 improved, but value didn’t return to 2018 levels</a:t>
            </a:r>
          </a:p>
          <a:p>
            <a:pPr marL="228600" indent="-347345">
              <a:lnSpc>
                <a:spcPct val="90000"/>
              </a:lnSpc>
              <a:spcBef>
                <a:spcPts val="1000"/>
              </a:spcBef>
              <a:buClr>
                <a:schemeClr val="accent6"/>
              </a:buClr>
              <a:buFont typeface="Courier New" panose="02070309020205020404" pitchFamily="49" charset="0"/>
              <a:buChar char="o"/>
            </a:pPr>
            <a:endParaRPr lang="en-US" sz="2000">
              <a:solidFill>
                <a:schemeClr val="bg1"/>
              </a:solidFill>
              <a:cs typeface="Segoe UI" panose="020B0502040204020203" pitchFamily="34" charset="0"/>
            </a:endParaRPr>
          </a:p>
        </p:txBody>
      </p:sp>
      <p:pic>
        <p:nvPicPr>
          <p:cNvPr id="34" name="Picture 33" descr="A graph with numbers and a line&#10;&#10;AI-generated content may be incorrect.">
            <a:extLst>
              <a:ext uri="{FF2B5EF4-FFF2-40B4-BE49-F238E27FC236}">
                <a16:creationId xmlns:a16="http://schemas.microsoft.com/office/drawing/2014/main" id="{0C0CF748-459B-D037-A730-FF39F0FE2C06}"/>
              </a:ext>
            </a:extLst>
          </p:cNvPr>
          <p:cNvPicPr>
            <a:picLocks noChangeAspect="1"/>
          </p:cNvPicPr>
          <p:nvPr/>
        </p:nvPicPr>
        <p:blipFill>
          <a:blip r:embed="rId2"/>
          <a:stretch>
            <a:fillRect/>
          </a:stretch>
        </p:blipFill>
        <p:spPr>
          <a:xfrm>
            <a:off x="6172200" y="2071149"/>
            <a:ext cx="5181600" cy="3860290"/>
          </a:xfrm>
          <a:prstGeom prst="rect">
            <a:avLst/>
          </a:prstGeom>
          <a:noFill/>
        </p:spPr>
      </p:pic>
      <p:sp>
        <p:nvSpPr>
          <p:cNvPr id="76" name="Slide Number Placeholder 5">
            <a:extLst>
              <a:ext uri="{FF2B5EF4-FFF2-40B4-BE49-F238E27FC236}">
                <a16:creationId xmlns:a16="http://schemas.microsoft.com/office/drawing/2014/main" id="{2D31955F-44BA-7A3A-4673-60C44FD03833}"/>
              </a:ext>
            </a:extLst>
          </p:cNvPr>
          <p:cNvSpPr>
            <a:spLocks noGrp="1"/>
          </p:cNvSpPr>
          <p:nvPr>
            <p:ph type="sldNum" sz="quarter" idx="12"/>
          </p:nvPr>
        </p:nvSpPr>
        <p:spPr>
          <a:xfrm>
            <a:off x="329184" y="411480"/>
            <a:ext cx="521208" cy="310896"/>
          </a:xfrm>
        </p:spPr>
        <p:txBody>
          <a:bodyPr/>
          <a:lstStyle/>
          <a:p>
            <a:pPr>
              <a:spcAft>
                <a:spcPts val="600"/>
              </a:spcAft>
            </a:pPr>
            <a:fld id="{294A09A9-5501-47C1-A89A-A340965A2BE2}" type="slidenum">
              <a:rPr lang="en-US" smtClean="0"/>
              <a:pPr>
                <a:spcAft>
                  <a:spcPts val="600"/>
                </a:spcAft>
              </a:pPr>
              <a:t>9</a:t>
            </a:fld>
            <a:endParaRPr lang="en-US"/>
          </a:p>
        </p:txBody>
      </p:sp>
    </p:spTree>
    <p:extLst>
      <p:ext uri="{BB962C8B-B14F-4D97-AF65-F5344CB8AC3E}">
        <p14:creationId xmlns:p14="http://schemas.microsoft.com/office/powerpoint/2010/main" val="143013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09BF2-0265-CCC0-A7BA-AF361125F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58DDD-1DAA-D592-1C04-874BB0EA8EFC}"/>
              </a:ext>
            </a:extLst>
          </p:cNvPr>
          <p:cNvSpPr>
            <a:spLocks noGrp="1"/>
          </p:cNvSpPr>
          <p:nvPr>
            <p:ph type="title"/>
          </p:nvPr>
        </p:nvSpPr>
        <p:spPr>
          <a:xfrm>
            <a:off x="655320" y="610380"/>
            <a:ext cx="10881360" cy="1069848"/>
          </a:xfrm>
        </p:spPr>
        <p:txBody>
          <a:bodyPr/>
          <a:lstStyle/>
          <a:p>
            <a:r>
              <a:rPr lang="en-US"/>
              <a:t>An Age-Based Pricing Analysis of LEGO Sets</a:t>
            </a:r>
            <a:endParaRPr lang="en-US" sz="4000" b="1" spc="600">
              <a:ln w="28575">
                <a:noFill/>
                <a:prstDash val="solid"/>
              </a:ln>
              <a:latin typeface="Tw Cen MT" panose="020B0602020104020603" pitchFamily="34" charset="77"/>
            </a:endParaRPr>
          </a:p>
        </p:txBody>
      </p:sp>
      <p:sp>
        <p:nvSpPr>
          <p:cNvPr id="5" name="Slide Number Placeholder 4">
            <a:extLst>
              <a:ext uri="{FF2B5EF4-FFF2-40B4-BE49-F238E27FC236}">
                <a16:creationId xmlns:a16="http://schemas.microsoft.com/office/drawing/2014/main" id="{900AC501-B4B6-53D0-C508-C02A8335FFD5}"/>
              </a:ext>
            </a:extLst>
          </p:cNvPr>
          <p:cNvSpPr>
            <a:spLocks noGrp="1"/>
          </p:cNvSpPr>
          <p:nvPr>
            <p:ph type="sldNum" sz="quarter" idx="11"/>
          </p:nvPr>
        </p:nvSpPr>
        <p:spPr/>
        <p:txBody>
          <a:bodyPr/>
          <a:lstStyle/>
          <a:p>
            <a:fld id="{294A09A9-5501-47C1-A89A-A340965A2BE2}" type="slidenum">
              <a:rPr lang="en-US" smtClean="0"/>
              <a:pPr/>
              <a:t>10</a:t>
            </a:fld>
            <a:endParaRPr lang="en-US"/>
          </a:p>
        </p:txBody>
      </p:sp>
      <p:sp>
        <p:nvSpPr>
          <p:cNvPr id="7" name="Content Placeholder 6">
            <a:extLst>
              <a:ext uri="{FF2B5EF4-FFF2-40B4-BE49-F238E27FC236}">
                <a16:creationId xmlns:a16="http://schemas.microsoft.com/office/drawing/2014/main" id="{2F18BBEF-0312-17E8-1666-02678533D288}"/>
              </a:ext>
            </a:extLst>
          </p:cNvPr>
          <p:cNvSpPr>
            <a:spLocks noGrp="1"/>
          </p:cNvSpPr>
          <p:nvPr>
            <p:ph idx="1"/>
          </p:nvPr>
        </p:nvSpPr>
        <p:spPr>
          <a:xfrm>
            <a:off x="929640" y="1879128"/>
            <a:ext cx="10332720" cy="3547872"/>
          </a:xfrm>
        </p:spPr>
        <p:txBody>
          <a:bodyPr vert="horz" lIns="91440" tIns="45720" rIns="91440" bIns="45720" rtlCol="0" anchor="t">
            <a:noAutofit/>
          </a:bodyPr>
          <a:lstStyle/>
          <a:p>
            <a:pPr marL="0" indent="0">
              <a:buNone/>
            </a:pPr>
            <a:r>
              <a:rPr lang="en-US" sz="2400" b="1" i="1">
                <a:ea typeface="+mn-lt"/>
                <a:cs typeface="+mn-lt"/>
              </a:rPr>
              <a:t>Why this matters:</a:t>
            </a:r>
          </a:p>
          <a:p>
            <a:pPr marL="0" indent="0">
              <a:buNone/>
            </a:pPr>
            <a:br>
              <a:rPr lang="en-US" sz="2000"/>
            </a:br>
            <a:r>
              <a:rPr lang="en-US" sz="2000"/>
              <a:t>When buying LEGO gifts, parents often wonder:</a:t>
            </a:r>
          </a:p>
          <a:p>
            <a:r>
              <a:rPr lang="en-US" sz="2000"/>
              <a:t>"Why does this 8+ set cost so much more than this 6+ set?"</a:t>
            </a:r>
          </a:p>
          <a:p>
            <a:r>
              <a:rPr lang="en-US" sz="2000"/>
              <a:t>"Am I getting good value for older vs younger kids' sets?"</a:t>
            </a:r>
          </a:p>
          <a:p>
            <a:pPr marL="0" indent="0">
              <a:buNone/>
            </a:pPr>
            <a:endParaRPr lang="en-US" sz="2400" b="1" i="1"/>
          </a:p>
          <a:p>
            <a:pPr marL="0" indent="0">
              <a:buNone/>
            </a:pPr>
            <a:r>
              <a:rPr lang="en-US" sz="2400" b="1" i="1"/>
              <a:t>Impact:</a:t>
            </a:r>
          </a:p>
          <a:p>
            <a:r>
              <a:rPr lang="en-US" sz="2000"/>
              <a:t>Need to budget appropriately for birthdays and holidays</a:t>
            </a:r>
          </a:p>
          <a:p>
            <a:r>
              <a:rPr lang="en-US" sz="2000"/>
              <a:t>Understand LEGO's pricing strategy across age groups</a:t>
            </a:r>
          </a:p>
          <a:p>
            <a:r>
              <a:rPr lang="en-US" sz="2000" b="1"/>
              <a:t>Value Perception:</a:t>
            </a:r>
            <a:r>
              <a:rPr lang="en-US" sz="2000"/>
              <a:t> Are older kids getting more or less value for money?</a:t>
            </a:r>
          </a:p>
          <a:p>
            <a:r>
              <a:rPr lang="en-US" sz="2000" b="1"/>
              <a:t>Market Insights:</a:t>
            </a:r>
            <a:r>
              <a:rPr lang="en-US" sz="2000"/>
              <a:t> How does LEGO segment its market by age and price?</a:t>
            </a:r>
          </a:p>
          <a:p>
            <a:pPr marL="0" indent="0">
              <a:buNone/>
            </a:pPr>
            <a:endParaRPr lang="en-US"/>
          </a:p>
          <a:p>
            <a:pPr marL="0" indent="0">
              <a:buNone/>
            </a:pPr>
            <a:endParaRPr lang="en-US"/>
          </a:p>
        </p:txBody>
      </p:sp>
    </p:spTree>
    <p:extLst>
      <p:ext uri="{BB962C8B-B14F-4D97-AF65-F5344CB8AC3E}">
        <p14:creationId xmlns:p14="http://schemas.microsoft.com/office/powerpoint/2010/main" val="1440213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209C-C5D4-C360-69CD-007A6BB42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4F9CB-B204-969D-61B2-489A227B435B}"/>
              </a:ext>
            </a:extLst>
          </p:cNvPr>
          <p:cNvSpPr>
            <a:spLocks noGrp="1"/>
          </p:cNvSpPr>
          <p:nvPr>
            <p:ph type="title"/>
          </p:nvPr>
        </p:nvSpPr>
        <p:spPr>
          <a:xfrm>
            <a:off x="655320" y="278987"/>
            <a:ext cx="10881360" cy="1069848"/>
          </a:xfrm>
        </p:spPr>
        <p:txBody>
          <a:bodyPr/>
          <a:lstStyle/>
          <a:p>
            <a:r>
              <a:rPr lang="en-US"/>
              <a:t>Data Prep and Key Metrics</a:t>
            </a:r>
            <a:endParaRPr lang="en-US" sz="4000" b="1" spc="600">
              <a:ln w="28575">
                <a:noFill/>
                <a:prstDash val="solid"/>
              </a:ln>
              <a:latin typeface="Tw Cen MT" panose="020B0602020104020603" pitchFamily="34" charset="77"/>
            </a:endParaRPr>
          </a:p>
        </p:txBody>
      </p:sp>
      <p:sp>
        <p:nvSpPr>
          <p:cNvPr id="5" name="Slide Number Placeholder 4">
            <a:extLst>
              <a:ext uri="{FF2B5EF4-FFF2-40B4-BE49-F238E27FC236}">
                <a16:creationId xmlns:a16="http://schemas.microsoft.com/office/drawing/2014/main" id="{B159CFB5-165C-C56B-C065-02CFD48B0BC0}"/>
              </a:ext>
            </a:extLst>
          </p:cNvPr>
          <p:cNvSpPr>
            <a:spLocks noGrp="1"/>
          </p:cNvSpPr>
          <p:nvPr>
            <p:ph type="sldNum" sz="quarter" idx="11"/>
          </p:nvPr>
        </p:nvSpPr>
        <p:spPr/>
        <p:txBody>
          <a:bodyPr/>
          <a:lstStyle/>
          <a:p>
            <a:fld id="{294A09A9-5501-47C1-A89A-A340965A2BE2}" type="slidenum">
              <a:rPr lang="en-US" smtClean="0"/>
              <a:pPr/>
              <a:t>11</a:t>
            </a:fld>
            <a:endParaRPr lang="en-US"/>
          </a:p>
        </p:txBody>
      </p:sp>
      <p:sp>
        <p:nvSpPr>
          <p:cNvPr id="7" name="Content Placeholder 6">
            <a:extLst>
              <a:ext uri="{FF2B5EF4-FFF2-40B4-BE49-F238E27FC236}">
                <a16:creationId xmlns:a16="http://schemas.microsoft.com/office/drawing/2014/main" id="{D12CB949-52C8-B8EA-E69F-A452C2BF23B3}"/>
              </a:ext>
            </a:extLst>
          </p:cNvPr>
          <p:cNvSpPr>
            <a:spLocks noGrp="1"/>
          </p:cNvSpPr>
          <p:nvPr>
            <p:ph idx="1"/>
          </p:nvPr>
        </p:nvSpPr>
        <p:spPr>
          <a:xfrm>
            <a:off x="1033968" y="1566144"/>
            <a:ext cx="10332720" cy="4810107"/>
          </a:xfrm>
        </p:spPr>
        <p:txBody>
          <a:bodyPr vert="horz" lIns="91440" tIns="45720" rIns="91440" bIns="45720" rtlCol="0" anchor="t">
            <a:noAutofit/>
          </a:bodyPr>
          <a:lstStyle/>
          <a:p>
            <a:pPr marL="0" indent="0">
              <a:buNone/>
            </a:pPr>
            <a:r>
              <a:rPr lang="en-US" sz="2000" i="1">
                <a:solidFill>
                  <a:schemeClr val="accent2">
                    <a:lumMod val="75000"/>
                  </a:schemeClr>
                </a:solidFill>
              </a:rPr>
              <a:t>Data Preparation:</a:t>
            </a:r>
          </a:p>
          <a:p>
            <a:pPr lvl="1"/>
            <a:r>
              <a:rPr lang="en-US" sz="2000"/>
              <a:t>Analyzed 1,065 LEGO sets (2018-2020)</a:t>
            </a:r>
          </a:p>
          <a:p>
            <a:pPr lvl="1"/>
            <a:r>
              <a:rPr lang="en-US" sz="2000"/>
              <a:t>Categorized into 4 age groups:</a:t>
            </a:r>
          </a:p>
          <a:p>
            <a:pPr lvl="2"/>
            <a:r>
              <a:rPr lang="en-US"/>
              <a:t>Young Kids (0-3)</a:t>
            </a:r>
          </a:p>
          <a:p>
            <a:pPr lvl="2"/>
            <a:r>
              <a:rPr lang="en-US"/>
              <a:t>Kids (4-6)</a:t>
            </a:r>
          </a:p>
          <a:p>
            <a:pPr lvl="2"/>
            <a:r>
              <a:rPr lang="en-US"/>
              <a:t>Older Kids (7-9)</a:t>
            </a:r>
          </a:p>
          <a:p>
            <a:pPr lvl="2"/>
            <a:r>
              <a:rPr lang="en-US"/>
              <a:t>Teens/Adults (10+)</a:t>
            </a:r>
          </a:p>
          <a:p>
            <a:pPr marL="0" indent="0">
              <a:buNone/>
            </a:pPr>
            <a:r>
              <a:rPr lang="en-US" sz="2000" i="1">
                <a:solidFill>
                  <a:schemeClr val="accent2">
                    <a:lumMod val="75000"/>
                  </a:schemeClr>
                </a:solidFill>
              </a:rPr>
              <a:t>Key Metrics:</a:t>
            </a:r>
          </a:p>
          <a:p>
            <a:pPr lvl="1"/>
            <a:r>
              <a:rPr lang="en-US" sz="2000" b="1"/>
              <a:t>Average Price:</a:t>
            </a:r>
            <a:r>
              <a:rPr lang="en-US" sz="2000"/>
              <a:t> Total cost of sets in each group</a:t>
            </a:r>
          </a:p>
          <a:p>
            <a:pPr lvl="1"/>
            <a:r>
              <a:rPr lang="en-US" sz="2000" b="1"/>
              <a:t>Price per Piece:</a:t>
            </a:r>
            <a:r>
              <a:rPr lang="en-US" sz="2000"/>
              <a:t> Price ÷ Number of pieces</a:t>
            </a:r>
          </a:p>
          <a:p>
            <a:pPr lvl="1"/>
            <a:r>
              <a:rPr lang="en-US" sz="2000" b="1"/>
              <a:t>Comparison:</a:t>
            </a:r>
            <a:r>
              <a:rPr lang="en-US" sz="2000"/>
              <a:t> Younger (0-6) vs Older (7+) groups</a:t>
            </a:r>
          </a:p>
          <a:p>
            <a:pPr marL="338328" lvl="1" indent="0">
              <a:buNone/>
            </a:pPr>
            <a:endParaRPr lang="en-US" sz="2000"/>
          </a:p>
          <a:p>
            <a:pPr marL="0" indent="0">
              <a:buNone/>
            </a:pPr>
            <a:r>
              <a:rPr lang="en-US" sz="2000" b="1">
                <a:solidFill>
                  <a:schemeClr val="bg2">
                    <a:lumMod val="10000"/>
                  </a:schemeClr>
                </a:solidFill>
                <a:highlight>
                  <a:srgbClr val="FFFF00"/>
                </a:highlight>
              </a:rPr>
              <a:t>Formula Example:</a:t>
            </a:r>
            <a:r>
              <a:rPr lang="en-US" sz="2000"/>
              <a:t> </a:t>
            </a:r>
            <a:r>
              <a:rPr lang="en-US" sz="2000" b="1" i="1">
                <a:solidFill>
                  <a:schemeClr val="tx2">
                    <a:lumMod val="20000"/>
                    <a:lumOff val="80000"/>
                  </a:schemeClr>
                </a:solidFill>
              </a:rPr>
              <a:t>Price per Piece = Total Price ÷ Total Pieces in Age Group</a:t>
            </a:r>
          </a:p>
          <a:p>
            <a:pPr marL="0" indent="0">
              <a:buNone/>
            </a:pPr>
            <a:endParaRPr lang="en-US" sz="2000"/>
          </a:p>
          <a:p>
            <a:pPr marL="0" indent="0">
              <a:buNone/>
            </a:pPr>
            <a:endParaRPr lang="en-US" sz="2000"/>
          </a:p>
        </p:txBody>
      </p:sp>
      <p:pic>
        <p:nvPicPr>
          <p:cNvPr id="4" name="Picture 3" descr="A screen shot of a computer&#10;&#10;AI-generated content may be incorrect.">
            <a:extLst>
              <a:ext uri="{FF2B5EF4-FFF2-40B4-BE49-F238E27FC236}">
                <a16:creationId xmlns:a16="http://schemas.microsoft.com/office/drawing/2014/main" id="{CEF2A02E-87D0-F582-F506-B0D8270B6974}"/>
              </a:ext>
            </a:extLst>
          </p:cNvPr>
          <p:cNvPicPr>
            <a:picLocks noChangeAspect="1"/>
          </p:cNvPicPr>
          <p:nvPr/>
        </p:nvPicPr>
        <p:blipFill>
          <a:blip r:embed="rId2"/>
          <a:stretch>
            <a:fillRect/>
          </a:stretch>
        </p:blipFill>
        <p:spPr>
          <a:xfrm>
            <a:off x="7503575" y="1739103"/>
            <a:ext cx="4011094" cy="2826760"/>
          </a:xfrm>
          <a:prstGeom prst="rect">
            <a:avLst/>
          </a:prstGeom>
        </p:spPr>
      </p:pic>
    </p:spTree>
    <p:extLst>
      <p:ext uri="{BB962C8B-B14F-4D97-AF65-F5344CB8AC3E}">
        <p14:creationId xmlns:p14="http://schemas.microsoft.com/office/powerpoint/2010/main" val="2914196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ctrTitle"/>
          </p:nvPr>
        </p:nvSpPr>
        <p:spPr>
          <a:xfrm>
            <a:off x="635165" y="-46"/>
            <a:ext cx="11173533" cy="1069848"/>
          </a:xfrm>
        </p:spPr>
        <p:txBody>
          <a:bodyPr/>
          <a:lstStyle/>
          <a:p>
            <a:r>
              <a:rPr lang="en-US" sz="3600"/>
              <a:t>Findings and Key Discoveries</a:t>
            </a:r>
          </a:p>
        </p:txBody>
      </p:sp>
      <p:sp>
        <p:nvSpPr>
          <p:cNvPr id="3" name="Subtitle 2">
            <a:extLst>
              <a:ext uri="{FF2B5EF4-FFF2-40B4-BE49-F238E27FC236}">
                <a16:creationId xmlns:a16="http://schemas.microsoft.com/office/drawing/2014/main" id="{C05FF0B8-5B51-7376-0271-8D849CA3F8A8}"/>
              </a:ext>
            </a:extLst>
          </p:cNvPr>
          <p:cNvSpPr>
            <a:spLocks noGrp="1"/>
          </p:cNvSpPr>
          <p:nvPr>
            <p:ph type="subTitle" idx="1"/>
          </p:nvPr>
        </p:nvSpPr>
        <p:spPr>
          <a:xfrm>
            <a:off x="255704" y="1141466"/>
            <a:ext cx="5500720" cy="5062489"/>
          </a:xfrm>
        </p:spPr>
        <p:txBody>
          <a:bodyPr/>
          <a:lstStyle/>
          <a:p>
            <a:pPr algn="l"/>
            <a:r>
              <a:rPr lang="en-US" sz="1600" b="1">
                <a:solidFill>
                  <a:schemeClr val="accent1">
                    <a:lumMod val="75000"/>
                  </a:schemeClr>
                </a:solidFill>
              </a:rPr>
              <a:t>The Findings:</a:t>
            </a:r>
          </a:p>
          <a:p>
            <a:pPr marL="285750" indent="-285750" algn="l">
              <a:buFont typeface="Arial" panose="020B0604020202020204" pitchFamily="34" charset="0"/>
              <a:buChar char="•"/>
            </a:pPr>
            <a:r>
              <a:rPr lang="en-CA" sz="1600" b="1"/>
              <a:t>Older sets cost significantly more</a:t>
            </a:r>
            <a:r>
              <a:rPr lang="en-CA" sz="1600"/>
              <a:t> </a:t>
            </a:r>
          </a:p>
          <a:p>
            <a:pPr lvl="1" algn="l"/>
            <a:r>
              <a:rPr lang="en-CA" sz="1400">
                <a:solidFill>
                  <a:schemeClr val="tx2">
                    <a:lumMod val="20000"/>
                    <a:lumOff val="80000"/>
                  </a:schemeClr>
                </a:solidFill>
              </a:rPr>
              <a:t>Teens/Adults sets average $112 vs Kids sets at $24</a:t>
            </a:r>
          </a:p>
          <a:p>
            <a:pPr marL="285750" indent="-285750" algn="l">
              <a:buFont typeface="Arial" panose="020B0604020202020204" pitchFamily="34" charset="0"/>
              <a:buChar char="•"/>
            </a:pPr>
            <a:r>
              <a:rPr lang="en-CA" sz="1600" b="1"/>
              <a:t>But price per piece tells a different story</a:t>
            </a:r>
          </a:p>
          <a:p>
            <a:pPr lvl="1" algn="l"/>
            <a:r>
              <a:rPr lang="en-CA" sz="1400">
                <a:solidFill>
                  <a:schemeClr val="tx2">
                    <a:lumMod val="20000"/>
                    <a:lumOff val="80000"/>
                  </a:schemeClr>
                </a:solidFill>
              </a:rPr>
              <a:t>Younger kids get fewer pieces per dollar</a:t>
            </a:r>
          </a:p>
          <a:p>
            <a:pPr marL="285750" indent="-285750" algn="l">
              <a:buFont typeface="Arial" panose="020B0604020202020204" pitchFamily="34" charset="0"/>
              <a:buChar char="•"/>
            </a:pPr>
            <a:r>
              <a:rPr lang="en-CA" sz="1600" b="1"/>
              <a:t>Most expensive per piece</a:t>
            </a:r>
          </a:p>
          <a:p>
            <a:pPr lvl="1" algn="l"/>
            <a:r>
              <a:rPr lang="en-CA" sz="1400">
                <a:solidFill>
                  <a:schemeClr val="tx2">
                    <a:lumMod val="20000"/>
                    <a:lumOff val="80000"/>
                  </a:schemeClr>
                </a:solidFill>
              </a:rPr>
              <a:t>Older Kids (7-9) at $0.97/piece</a:t>
            </a:r>
          </a:p>
          <a:p>
            <a:pPr marL="285750" indent="-285750" algn="l">
              <a:buFont typeface="Arial" panose="020B0604020202020204" pitchFamily="34" charset="0"/>
              <a:buChar char="•"/>
            </a:pPr>
            <a:r>
              <a:rPr lang="en-CA" sz="1600" b="1"/>
              <a:t>Best value per piece</a:t>
            </a:r>
          </a:p>
          <a:p>
            <a:pPr lvl="1" algn="l"/>
            <a:r>
              <a:rPr lang="en-CA" sz="1400"/>
              <a:t> </a:t>
            </a:r>
            <a:r>
              <a:rPr lang="en-CA" sz="1400">
                <a:solidFill>
                  <a:schemeClr val="tx2">
                    <a:lumMod val="20000"/>
                    <a:lumOff val="80000"/>
                  </a:schemeClr>
                </a:solidFill>
              </a:rPr>
              <a:t>Teens/Adults (10+) at $0.09/piece</a:t>
            </a:r>
          </a:p>
          <a:p>
            <a:pPr marL="285750" indent="-285750" algn="l">
              <a:buFont typeface="Arial" panose="020B0604020202020204" pitchFamily="34" charset="0"/>
              <a:buChar char="•"/>
            </a:pPr>
            <a:endParaRPr lang="en-US" sz="1600"/>
          </a:p>
        </p:txBody>
      </p:sp>
      <p:pic>
        <p:nvPicPr>
          <p:cNvPr id="11" name="Picture 10" descr="A screenshot of a graph">
            <a:extLst>
              <a:ext uri="{FF2B5EF4-FFF2-40B4-BE49-F238E27FC236}">
                <a16:creationId xmlns:a16="http://schemas.microsoft.com/office/drawing/2014/main" id="{92ED56FB-6BFA-40A2-9689-CB477E71F225}"/>
              </a:ext>
            </a:extLst>
          </p:cNvPr>
          <p:cNvPicPr>
            <a:picLocks noChangeAspect="1"/>
          </p:cNvPicPr>
          <p:nvPr/>
        </p:nvPicPr>
        <p:blipFill>
          <a:blip r:embed="rId2"/>
          <a:stretch>
            <a:fillRect/>
          </a:stretch>
        </p:blipFill>
        <p:spPr>
          <a:xfrm>
            <a:off x="5308786" y="1461978"/>
            <a:ext cx="6627509" cy="2759615"/>
          </a:xfrm>
          <a:prstGeom prst="rect">
            <a:avLst/>
          </a:prstGeom>
        </p:spPr>
      </p:pic>
      <p:sp>
        <p:nvSpPr>
          <p:cNvPr id="17" name="TextBox 16">
            <a:extLst>
              <a:ext uri="{FF2B5EF4-FFF2-40B4-BE49-F238E27FC236}">
                <a16:creationId xmlns:a16="http://schemas.microsoft.com/office/drawing/2014/main" id="{CF27EE26-9639-6D12-08B2-A67D0A1EEFEC}"/>
              </a:ext>
            </a:extLst>
          </p:cNvPr>
          <p:cNvSpPr txBox="1"/>
          <p:nvPr/>
        </p:nvSpPr>
        <p:spPr>
          <a:xfrm>
            <a:off x="165697" y="3975926"/>
            <a:ext cx="3814699" cy="369332"/>
          </a:xfrm>
          <a:prstGeom prst="rect">
            <a:avLst/>
          </a:prstGeom>
          <a:noFill/>
        </p:spPr>
        <p:txBody>
          <a:bodyPr wrap="none" rtlCol="0">
            <a:spAutoFit/>
          </a:bodyPr>
          <a:lstStyle/>
          <a:p>
            <a:r>
              <a:rPr lang="en-US" b="1">
                <a:solidFill>
                  <a:schemeClr val="tx2"/>
                </a:solidFill>
              </a:rPr>
              <a:t>Price Increases Dramatically with Age:</a:t>
            </a:r>
            <a:endParaRPr lang="en-CA">
              <a:solidFill>
                <a:schemeClr val="tx2"/>
              </a:solidFill>
            </a:endParaRPr>
          </a:p>
        </p:txBody>
      </p:sp>
      <p:graphicFrame>
        <p:nvGraphicFramePr>
          <p:cNvPr id="18" name="Table 17">
            <a:extLst>
              <a:ext uri="{FF2B5EF4-FFF2-40B4-BE49-F238E27FC236}">
                <a16:creationId xmlns:a16="http://schemas.microsoft.com/office/drawing/2014/main" id="{BE11FBC0-0135-F628-FA23-CF4BF4CC77CB}"/>
              </a:ext>
            </a:extLst>
          </p:cNvPr>
          <p:cNvGraphicFramePr>
            <a:graphicFrameLocks noGrp="1"/>
          </p:cNvGraphicFramePr>
          <p:nvPr>
            <p:extLst>
              <p:ext uri="{D42A27DB-BD31-4B8C-83A1-F6EECF244321}">
                <p14:modId xmlns:p14="http://schemas.microsoft.com/office/powerpoint/2010/main" val="2479816051"/>
              </p:ext>
            </p:extLst>
          </p:nvPr>
        </p:nvGraphicFramePr>
        <p:xfrm>
          <a:off x="1322519" y="4468922"/>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72633037"/>
                    </a:ext>
                  </a:extLst>
                </a:gridCol>
                <a:gridCol w="1990732">
                  <a:extLst>
                    <a:ext uri="{9D8B030D-6E8A-4147-A177-3AD203B41FA5}">
                      <a16:colId xmlns:a16="http://schemas.microsoft.com/office/drawing/2014/main" val="923053515"/>
                    </a:ext>
                  </a:extLst>
                </a:gridCol>
                <a:gridCol w="2073268">
                  <a:extLst>
                    <a:ext uri="{9D8B030D-6E8A-4147-A177-3AD203B41FA5}">
                      <a16:colId xmlns:a16="http://schemas.microsoft.com/office/drawing/2014/main" val="497595697"/>
                    </a:ext>
                  </a:extLst>
                </a:gridCol>
                <a:gridCol w="2032000">
                  <a:extLst>
                    <a:ext uri="{9D8B030D-6E8A-4147-A177-3AD203B41FA5}">
                      <a16:colId xmlns:a16="http://schemas.microsoft.com/office/drawing/2014/main" val="3184126589"/>
                    </a:ext>
                  </a:extLst>
                </a:gridCol>
              </a:tblGrid>
              <a:tr h="370840">
                <a:tc>
                  <a:txBody>
                    <a:bodyPr/>
                    <a:lstStyle/>
                    <a:p>
                      <a:pPr algn="l">
                        <a:lnSpc>
                          <a:spcPts val="1875"/>
                        </a:lnSpc>
                        <a:buNone/>
                      </a:pPr>
                      <a:r>
                        <a:rPr lang="en-CA" sz="1800" b="0">
                          <a:effectLst/>
                          <a:latin typeface="quote-cjk-patch"/>
                        </a:rPr>
                        <a:t>Age Group</a:t>
                      </a:r>
                    </a:p>
                  </a:txBody>
                  <a:tcPr marR="101600" marT="63500" marB="63500" anchor="ctr"/>
                </a:tc>
                <a:tc>
                  <a:txBody>
                    <a:bodyPr/>
                    <a:lstStyle/>
                    <a:p>
                      <a:pPr algn="l">
                        <a:lnSpc>
                          <a:spcPts val="1875"/>
                        </a:lnSpc>
                        <a:buNone/>
                      </a:pPr>
                      <a:r>
                        <a:rPr lang="en-CA" sz="1800" b="0">
                          <a:effectLst/>
                          <a:latin typeface="quote-cjk-patch"/>
                        </a:rPr>
                        <a:t>Average Price</a:t>
                      </a:r>
                    </a:p>
                  </a:txBody>
                  <a:tcPr marL="101600" marR="101600" marT="63500" marB="63500" anchor="ctr"/>
                </a:tc>
                <a:tc>
                  <a:txBody>
                    <a:bodyPr/>
                    <a:lstStyle/>
                    <a:p>
                      <a:pPr algn="l">
                        <a:lnSpc>
                          <a:spcPts val="1875"/>
                        </a:lnSpc>
                        <a:buNone/>
                      </a:pPr>
                      <a:r>
                        <a:rPr lang="en-CA" sz="1800" b="0">
                          <a:effectLst/>
                          <a:latin typeface="quote-cjk-patch"/>
                        </a:rPr>
                        <a:t>Median Price</a:t>
                      </a:r>
                    </a:p>
                  </a:txBody>
                  <a:tcPr marL="101600" marR="101600" marT="63500" marB="63500" anchor="ctr"/>
                </a:tc>
                <a:tc>
                  <a:txBody>
                    <a:bodyPr/>
                    <a:lstStyle/>
                    <a:p>
                      <a:pPr algn="l">
                        <a:lnSpc>
                          <a:spcPts val="1875"/>
                        </a:lnSpc>
                        <a:buNone/>
                      </a:pPr>
                      <a:r>
                        <a:rPr lang="en-CA" sz="1800" b="0">
                          <a:effectLst/>
                          <a:latin typeface="quote-cjk-patch"/>
                        </a:rPr>
                        <a:t># of Sets</a:t>
                      </a:r>
                    </a:p>
                  </a:txBody>
                  <a:tcPr marL="101600" marR="101600" marT="63500" marB="63500" anchor="ctr"/>
                </a:tc>
                <a:extLst>
                  <a:ext uri="{0D108BD9-81ED-4DB2-BD59-A6C34878D82A}">
                    <a16:rowId xmlns:a16="http://schemas.microsoft.com/office/drawing/2014/main" val="3858435996"/>
                  </a:ext>
                </a:extLst>
              </a:tr>
              <a:tr h="370840">
                <a:tc>
                  <a:txBody>
                    <a:bodyPr/>
                    <a:lstStyle/>
                    <a:p>
                      <a:pPr>
                        <a:lnSpc>
                          <a:spcPts val="1875"/>
                        </a:lnSpc>
                        <a:buNone/>
                      </a:pPr>
                      <a:r>
                        <a:rPr lang="en-CA" sz="1800" b="0">
                          <a:effectLst/>
                          <a:latin typeface="quote-cjk-patch"/>
                        </a:rPr>
                        <a:t>Teens/Adults (10+)</a:t>
                      </a:r>
                    </a:p>
                  </a:txBody>
                  <a:tcPr marR="101600" marT="63500" marB="63500" anchor="ctr"/>
                </a:tc>
                <a:tc>
                  <a:txBody>
                    <a:bodyPr/>
                    <a:lstStyle/>
                    <a:p>
                      <a:pPr>
                        <a:lnSpc>
                          <a:spcPts val="1875"/>
                        </a:lnSpc>
                        <a:buNone/>
                      </a:pPr>
                      <a:r>
                        <a:rPr lang="en-CA" sz="1800" b="1">
                          <a:effectLst/>
                          <a:latin typeface="quote-cjk-patch"/>
                        </a:rPr>
                        <a:t>$112.84</a:t>
                      </a:r>
                      <a:endParaRPr lang="en-CA" sz="1800" b="0">
                        <a:effectLst/>
                        <a:latin typeface="quote-cjk-patch"/>
                      </a:endParaRPr>
                    </a:p>
                  </a:txBody>
                  <a:tcPr marL="101600" marR="101600" marT="63500" marB="63500" anchor="ctr"/>
                </a:tc>
                <a:tc>
                  <a:txBody>
                    <a:bodyPr/>
                    <a:lstStyle/>
                    <a:p>
                      <a:pPr>
                        <a:lnSpc>
                          <a:spcPts val="1875"/>
                        </a:lnSpc>
                        <a:buNone/>
                      </a:pPr>
                      <a:r>
                        <a:rPr lang="en-CA" sz="1800" b="0">
                          <a:effectLst/>
                          <a:latin typeface="quote-cjk-patch"/>
                        </a:rPr>
                        <a:t>$69.99</a:t>
                      </a:r>
                    </a:p>
                  </a:txBody>
                  <a:tcPr marL="101600" marR="101600" marT="63500" marB="63500" anchor="ctr"/>
                </a:tc>
                <a:tc>
                  <a:txBody>
                    <a:bodyPr/>
                    <a:lstStyle/>
                    <a:p>
                      <a:pPr>
                        <a:lnSpc>
                          <a:spcPts val="1875"/>
                        </a:lnSpc>
                        <a:buNone/>
                      </a:pPr>
                      <a:r>
                        <a:rPr lang="en-CA" sz="1800" b="0">
                          <a:effectLst/>
                          <a:latin typeface="quote-cjk-patch"/>
                        </a:rPr>
                        <a:t>147</a:t>
                      </a:r>
                    </a:p>
                  </a:txBody>
                  <a:tcPr marL="101600" marT="63500" marB="63500" anchor="ctr"/>
                </a:tc>
                <a:extLst>
                  <a:ext uri="{0D108BD9-81ED-4DB2-BD59-A6C34878D82A}">
                    <a16:rowId xmlns:a16="http://schemas.microsoft.com/office/drawing/2014/main" val="3459457266"/>
                  </a:ext>
                </a:extLst>
              </a:tr>
              <a:tr h="370840">
                <a:tc>
                  <a:txBody>
                    <a:bodyPr/>
                    <a:lstStyle/>
                    <a:p>
                      <a:pPr>
                        <a:lnSpc>
                          <a:spcPts val="1875"/>
                        </a:lnSpc>
                        <a:buNone/>
                      </a:pPr>
                      <a:r>
                        <a:rPr lang="en-CA" sz="1800" b="0">
                          <a:effectLst/>
                          <a:latin typeface="quote-cjk-patch"/>
                        </a:rPr>
                        <a:t>Older Kids (7-9)</a:t>
                      </a:r>
                    </a:p>
                  </a:txBody>
                  <a:tcPr marR="101600" marT="63500" marB="63500" anchor="ctr"/>
                </a:tc>
                <a:tc>
                  <a:txBody>
                    <a:bodyPr/>
                    <a:lstStyle/>
                    <a:p>
                      <a:pPr>
                        <a:lnSpc>
                          <a:spcPts val="1875"/>
                        </a:lnSpc>
                        <a:buNone/>
                      </a:pPr>
                      <a:r>
                        <a:rPr lang="en-CA" sz="1800" b="0">
                          <a:effectLst/>
                          <a:latin typeface="quote-cjk-patch"/>
                        </a:rPr>
                        <a:t>$46.56</a:t>
                      </a:r>
                    </a:p>
                  </a:txBody>
                  <a:tcPr marL="101600" marR="101600" marT="63500" marB="63500" anchor="ctr"/>
                </a:tc>
                <a:tc>
                  <a:txBody>
                    <a:bodyPr/>
                    <a:lstStyle/>
                    <a:p>
                      <a:pPr>
                        <a:lnSpc>
                          <a:spcPts val="1875"/>
                        </a:lnSpc>
                        <a:buNone/>
                      </a:pPr>
                      <a:r>
                        <a:rPr lang="en-CA" sz="1800" b="0">
                          <a:effectLst/>
                          <a:latin typeface="quote-cjk-patch"/>
                        </a:rPr>
                        <a:t>$39.99</a:t>
                      </a:r>
                    </a:p>
                  </a:txBody>
                  <a:tcPr marL="101600" marR="101600" marT="63500" marB="63500" anchor="ctr"/>
                </a:tc>
                <a:tc>
                  <a:txBody>
                    <a:bodyPr/>
                    <a:lstStyle/>
                    <a:p>
                      <a:pPr>
                        <a:lnSpc>
                          <a:spcPts val="1875"/>
                        </a:lnSpc>
                        <a:buNone/>
                      </a:pPr>
                      <a:r>
                        <a:rPr lang="en-CA" sz="1800" b="0">
                          <a:effectLst/>
                          <a:latin typeface="quote-cjk-patch"/>
                        </a:rPr>
                        <a:t>422</a:t>
                      </a:r>
                    </a:p>
                  </a:txBody>
                  <a:tcPr marL="101600" marT="63500" marB="63500" anchor="ctr"/>
                </a:tc>
                <a:extLst>
                  <a:ext uri="{0D108BD9-81ED-4DB2-BD59-A6C34878D82A}">
                    <a16:rowId xmlns:a16="http://schemas.microsoft.com/office/drawing/2014/main" val="3907999762"/>
                  </a:ext>
                </a:extLst>
              </a:tr>
              <a:tr h="370840">
                <a:tc>
                  <a:txBody>
                    <a:bodyPr/>
                    <a:lstStyle/>
                    <a:p>
                      <a:pPr>
                        <a:lnSpc>
                          <a:spcPts val="1875"/>
                        </a:lnSpc>
                        <a:buNone/>
                      </a:pPr>
                      <a:r>
                        <a:rPr lang="en-CA" sz="1800" b="0">
                          <a:effectLst/>
                          <a:latin typeface="quote-cjk-patch"/>
                        </a:rPr>
                        <a:t>Young Kids (0-3)</a:t>
                      </a:r>
                    </a:p>
                  </a:txBody>
                  <a:tcPr marR="101600" marT="63500" marB="63500" anchor="ctr"/>
                </a:tc>
                <a:tc>
                  <a:txBody>
                    <a:bodyPr/>
                    <a:lstStyle/>
                    <a:p>
                      <a:pPr>
                        <a:lnSpc>
                          <a:spcPts val="1875"/>
                        </a:lnSpc>
                        <a:buNone/>
                      </a:pPr>
                      <a:r>
                        <a:rPr lang="en-CA" sz="1800" b="0">
                          <a:effectLst/>
                          <a:latin typeface="quote-cjk-patch"/>
                        </a:rPr>
                        <a:t>$36.27</a:t>
                      </a:r>
                    </a:p>
                  </a:txBody>
                  <a:tcPr marL="101600" marR="101600" marT="63500" marB="63500" anchor="ctr"/>
                </a:tc>
                <a:tc>
                  <a:txBody>
                    <a:bodyPr/>
                    <a:lstStyle/>
                    <a:p>
                      <a:pPr>
                        <a:lnSpc>
                          <a:spcPts val="1875"/>
                        </a:lnSpc>
                        <a:buNone/>
                      </a:pPr>
                      <a:r>
                        <a:rPr lang="en-CA" sz="1800" b="0">
                          <a:effectLst/>
                          <a:latin typeface="quote-cjk-patch"/>
                        </a:rPr>
                        <a:t>$19.99</a:t>
                      </a:r>
                    </a:p>
                  </a:txBody>
                  <a:tcPr marL="101600" marR="101600" marT="63500" marB="63500" anchor="ctr"/>
                </a:tc>
                <a:tc>
                  <a:txBody>
                    <a:bodyPr/>
                    <a:lstStyle/>
                    <a:p>
                      <a:pPr>
                        <a:lnSpc>
                          <a:spcPts val="1875"/>
                        </a:lnSpc>
                        <a:buNone/>
                      </a:pPr>
                      <a:r>
                        <a:rPr lang="en-CA" sz="1800" b="0">
                          <a:effectLst/>
                          <a:latin typeface="quote-cjk-patch"/>
                        </a:rPr>
                        <a:t>71</a:t>
                      </a:r>
                    </a:p>
                  </a:txBody>
                  <a:tcPr marL="101600" marT="63500" marB="63500" anchor="ctr"/>
                </a:tc>
                <a:extLst>
                  <a:ext uri="{0D108BD9-81ED-4DB2-BD59-A6C34878D82A}">
                    <a16:rowId xmlns:a16="http://schemas.microsoft.com/office/drawing/2014/main" val="3223800060"/>
                  </a:ext>
                </a:extLst>
              </a:tr>
              <a:tr h="370840">
                <a:tc>
                  <a:txBody>
                    <a:bodyPr/>
                    <a:lstStyle/>
                    <a:p>
                      <a:pPr>
                        <a:lnSpc>
                          <a:spcPts val="1875"/>
                        </a:lnSpc>
                        <a:buNone/>
                      </a:pPr>
                      <a:r>
                        <a:rPr lang="en-CA" sz="1800" b="0">
                          <a:effectLst/>
                          <a:latin typeface="quote-cjk-patch"/>
                        </a:rPr>
                        <a:t>Kids (4-6)</a:t>
                      </a:r>
                    </a:p>
                  </a:txBody>
                  <a:tcPr marR="101600" marT="63500" marB="63500" anchor="ctr"/>
                </a:tc>
                <a:tc>
                  <a:txBody>
                    <a:bodyPr/>
                    <a:lstStyle/>
                    <a:p>
                      <a:pPr>
                        <a:lnSpc>
                          <a:spcPts val="1875"/>
                        </a:lnSpc>
                        <a:buNone/>
                      </a:pPr>
                      <a:r>
                        <a:rPr lang="en-CA" sz="1800" b="0">
                          <a:effectLst/>
                          <a:latin typeface="quote-cjk-patch"/>
                        </a:rPr>
                        <a:t>$24.82</a:t>
                      </a:r>
                    </a:p>
                  </a:txBody>
                  <a:tcPr marL="101600" marR="101600" marT="63500" marB="63500" anchor="ctr"/>
                </a:tc>
                <a:tc>
                  <a:txBody>
                    <a:bodyPr/>
                    <a:lstStyle/>
                    <a:p>
                      <a:pPr>
                        <a:lnSpc>
                          <a:spcPts val="1875"/>
                        </a:lnSpc>
                        <a:buNone/>
                      </a:pPr>
                      <a:r>
                        <a:rPr lang="en-CA" sz="1800" b="0">
                          <a:effectLst/>
                          <a:latin typeface="quote-cjk-patch"/>
                        </a:rPr>
                        <a:t>$19.99</a:t>
                      </a:r>
                    </a:p>
                  </a:txBody>
                  <a:tcPr marL="101600" marR="101600" marT="63500" marB="63500" anchor="ctr"/>
                </a:tc>
                <a:tc>
                  <a:txBody>
                    <a:bodyPr/>
                    <a:lstStyle/>
                    <a:p>
                      <a:pPr>
                        <a:lnSpc>
                          <a:spcPts val="1875"/>
                        </a:lnSpc>
                        <a:buNone/>
                      </a:pPr>
                      <a:r>
                        <a:rPr lang="en-CA" sz="1800" b="0">
                          <a:effectLst/>
                          <a:latin typeface="quote-cjk-patch"/>
                        </a:rPr>
                        <a:t>425</a:t>
                      </a:r>
                    </a:p>
                  </a:txBody>
                  <a:tcPr marL="101600" marT="63500" marB="63500" anchor="ctr"/>
                </a:tc>
                <a:extLst>
                  <a:ext uri="{0D108BD9-81ED-4DB2-BD59-A6C34878D82A}">
                    <a16:rowId xmlns:a16="http://schemas.microsoft.com/office/drawing/2014/main" val="3330646927"/>
                  </a:ext>
                </a:extLst>
              </a:tr>
            </a:tbl>
          </a:graphicData>
        </a:graphic>
      </p:graphicFrame>
      <p:sp>
        <p:nvSpPr>
          <p:cNvPr id="20" name="TextBox 19">
            <a:extLst>
              <a:ext uri="{FF2B5EF4-FFF2-40B4-BE49-F238E27FC236}">
                <a16:creationId xmlns:a16="http://schemas.microsoft.com/office/drawing/2014/main" id="{A70641A6-1953-5991-F594-B9CF1AF17B4D}"/>
              </a:ext>
            </a:extLst>
          </p:cNvPr>
          <p:cNvSpPr txBox="1"/>
          <p:nvPr/>
        </p:nvSpPr>
        <p:spPr>
          <a:xfrm>
            <a:off x="3768064" y="6385785"/>
            <a:ext cx="2525243" cy="369332"/>
          </a:xfrm>
          <a:prstGeom prst="rect">
            <a:avLst/>
          </a:prstGeom>
          <a:noFill/>
        </p:spPr>
        <p:txBody>
          <a:bodyPr wrap="none" rtlCol="0">
            <a:spAutoFit/>
          </a:bodyPr>
          <a:lstStyle/>
          <a:p>
            <a:r>
              <a:rPr lang="en-CA" b="1">
                <a:highlight>
                  <a:srgbClr val="FFFF00"/>
                </a:highlight>
              </a:rPr>
              <a:t>Older = More Expensive</a:t>
            </a:r>
          </a:p>
        </p:txBody>
      </p:sp>
    </p:spTree>
    <p:extLst>
      <p:ext uri="{BB962C8B-B14F-4D97-AF65-F5344CB8AC3E}">
        <p14:creationId xmlns:p14="http://schemas.microsoft.com/office/powerpoint/2010/main" val="548476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5B9B5-E2D3-841B-003D-6E507C913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30FDA-A6B9-05A9-2BA1-C0069A2CECCB}"/>
              </a:ext>
            </a:extLst>
          </p:cNvPr>
          <p:cNvSpPr>
            <a:spLocks noGrp="1"/>
          </p:cNvSpPr>
          <p:nvPr>
            <p:ph type="title"/>
          </p:nvPr>
        </p:nvSpPr>
        <p:spPr>
          <a:xfrm>
            <a:off x="655320" y="214791"/>
            <a:ext cx="10881360" cy="820591"/>
          </a:xfrm>
        </p:spPr>
        <p:txBody>
          <a:bodyPr/>
          <a:lstStyle/>
          <a:p>
            <a:r>
              <a:rPr lang="en-US"/>
              <a:t>Data Prep and Key Metrics</a:t>
            </a:r>
            <a:endParaRPr lang="en-US" sz="4000" b="1" spc="600">
              <a:ln w="28575">
                <a:noFill/>
                <a:prstDash val="solid"/>
              </a:ln>
              <a:latin typeface="Tw Cen MT" panose="020B0602020104020603" pitchFamily="34" charset="77"/>
            </a:endParaRPr>
          </a:p>
        </p:txBody>
      </p:sp>
      <p:sp>
        <p:nvSpPr>
          <p:cNvPr id="5" name="Slide Number Placeholder 4">
            <a:extLst>
              <a:ext uri="{FF2B5EF4-FFF2-40B4-BE49-F238E27FC236}">
                <a16:creationId xmlns:a16="http://schemas.microsoft.com/office/drawing/2014/main" id="{19B0F245-169A-4228-AE50-A821F05C630F}"/>
              </a:ext>
            </a:extLst>
          </p:cNvPr>
          <p:cNvSpPr>
            <a:spLocks noGrp="1"/>
          </p:cNvSpPr>
          <p:nvPr>
            <p:ph type="sldNum" sz="quarter" idx="11"/>
          </p:nvPr>
        </p:nvSpPr>
        <p:spPr/>
        <p:txBody>
          <a:bodyPr/>
          <a:lstStyle/>
          <a:p>
            <a:fld id="{294A09A9-5501-47C1-A89A-A340965A2BE2}" type="slidenum">
              <a:rPr lang="en-US" smtClean="0"/>
              <a:pPr/>
              <a:t>13</a:t>
            </a:fld>
            <a:endParaRPr lang="en-US"/>
          </a:p>
        </p:txBody>
      </p:sp>
      <p:sp>
        <p:nvSpPr>
          <p:cNvPr id="7" name="Content Placeholder 6">
            <a:extLst>
              <a:ext uri="{FF2B5EF4-FFF2-40B4-BE49-F238E27FC236}">
                <a16:creationId xmlns:a16="http://schemas.microsoft.com/office/drawing/2014/main" id="{4B07F72D-A333-D9DF-3AE4-A709665D9249}"/>
              </a:ext>
            </a:extLst>
          </p:cNvPr>
          <p:cNvSpPr>
            <a:spLocks noGrp="1"/>
          </p:cNvSpPr>
          <p:nvPr>
            <p:ph idx="1"/>
          </p:nvPr>
        </p:nvSpPr>
        <p:spPr>
          <a:xfrm>
            <a:off x="966463" y="1197929"/>
            <a:ext cx="10405236" cy="4810107"/>
          </a:xfrm>
        </p:spPr>
        <p:txBody>
          <a:bodyPr vert="horz" lIns="91440" tIns="45720" rIns="91440" bIns="45720" rtlCol="0" anchor="t">
            <a:noAutofit/>
          </a:bodyPr>
          <a:lstStyle/>
          <a:p>
            <a:pPr marL="0" indent="0">
              <a:buNone/>
            </a:pPr>
            <a:r>
              <a:rPr lang="en-US" sz="1800" b="1"/>
              <a:t>Price Difference is Massive:</a:t>
            </a:r>
            <a:endParaRPr lang="en-US" sz="1800"/>
          </a:p>
          <a:p>
            <a:pPr lvl="1"/>
            <a:r>
              <a:rPr lang="en-US" sz="1800"/>
              <a:t>Older kids' sets (7+) cost </a:t>
            </a:r>
            <a:r>
              <a:rPr lang="en-US" sz="1800" b="1">
                <a:solidFill>
                  <a:schemeClr val="accent2">
                    <a:lumMod val="75000"/>
                  </a:schemeClr>
                </a:solidFill>
              </a:rPr>
              <a:t>140% more</a:t>
            </a:r>
            <a:r>
              <a:rPr lang="en-US" sz="1800">
                <a:solidFill>
                  <a:schemeClr val="accent2">
                    <a:lumMod val="75000"/>
                  </a:schemeClr>
                </a:solidFill>
              </a:rPr>
              <a:t> </a:t>
            </a:r>
            <a:r>
              <a:rPr lang="en-US" sz="1800"/>
              <a:t>on average</a:t>
            </a:r>
          </a:p>
          <a:p>
            <a:pPr lvl="1"/>
            <a:r>
              <a:rPr lang="en-US" sz="1800"/>
              <a:t>Direct comparison: $63.69 vs $26.46 for younger sets</a:t>
            </a:r>
          </a:p>
          <a:p>
            <a:pPr marL="338328" lvl="1" indent="0">
              <a:buNone/>
            </a:pPr>
            <a:endParaRPr lang="en-US" sz="1800"/>
          </a:p>
          <a:p>
            <a:pPr marL="0" indent="0">
              <a:buNone/>
            </a:pPr>
            <a:r>
              <a:rPr lang="en-US" sz="1800" b="1"/>
              <a:t>Surprising Value Discovery:</a:t>
            </a:r>
            <a:endParaRPr lang="en-US" sz="1800"/>
          </a:p>
          <a:p>
            <a:pPr lvl="1"/>
            <a:r>
              <a:rPr lang="en-US" sz="1800"/>
              <a:t>Teens' sets offer the </a:t>
            </a:r>
            <a:r>
              <a:rPr lang="en-US" sz="1800" b="1"/>
              <a:t>best </a:t>
            </a:r>
            <a:r>
              <a:rPr lang="en-US" sz="1800" b="1" i="1">
                <a:solidFill>
                  <a:schemeClr val="accent2">
                    <a:lumMod val="75000"/>
                  </a:schemeClr>
                </a:solidFill>
              </a:rPr>
              <a:t>value per piece</a:t>
            </a:r>
          </a:p>
          <a:p>
            <a:pPr lvl="1"/>
            <a:r>
              <a:rPr lang="en-US" sz="1800"/>
              <a:t>Older Kids (7-9) sets are </a:t>
            </a:r>
            <a:r>
              <a:rPr lang="en-US" sz="1800" b="1" i="1">
                <a:solidFill>
                  <a:schemeClr val="accent2">
                    <a:lumMod val="75000"/>
                  </a:schemeClr>
                </a:solidFill>
              </a:rPr>
              <a:t>the least cost-efficient</a:t>
            </a:r>
          </a:p>
          <a:p>
            <a:pPr lvl="1"/>
            <a:endParaRPr lang="en-US" sz="1800"/>
          </a:p>
          <a:p>
            <a:pPr marL="0" indent="0">
              <a:buNone/>
            </a:pPr>
            <a:r>
              <a:rPr lang="en-US" sz="1800" b="1"/>
              <a:t>Why This Happens:</a:t>
            </a:r>
            <a:endParaRPr lang="en-US" sz="1800"/>
          </a:p>
          <a:p>
            <a:pPr lvl="1"/>
            <a:r>
              <a:rPr lang="en-US" sz="1800" b="1"/>
              <a:t>Younger sets:</a:t>
            </a:r>
            <a:r>
              <a:rPr lang="en-US" sz="1800"/>
              <a:t> Larger, simpler pieces focused on safety</a:t>
            </a:r>
          </a:p>
          <a:p>
            <a:pPr lvl="1"/>
            <a:r>
              <a:rPr lang="en-US" sz="1800" b="1"/>
              <a:t>Older sets:</a:t>
            </a:r>
            <a:r>
              <a:rPr lang="en-US" sz="1800"/>
              <a:t> More complex engineering, licensing fees, collector appeal</a:t>
            </a:r>
          </a:p>
          <a:p>
            <a:pPr lvl="1"/>
            <a:endParaRPr lang="en-US" sz="1800"/>
          </a:p>
          <a:p>
            <a:pPr marL="0" indent="0">
              <a:buNone/>
            </a:pPr>
            <a:r>
              <a:rPr lang="en-US" sz="1800" b="1" i="1">
                <a:solidFill>
                  <a:schemeClr val="accent2">
                    <a:lumMod val="75000"/>
                  </a:schemeClr>
                </a:solidFill>
              </a:rPr>
              <a:t>The Bottom Line:</a:t>
            </a:r>
            <a:br>
              <a:rPr lang="en-US" sz="1800"/>
            </a:br>
            <a:r>
              <a:rPr lang="en-US" sz="1800" b="1"/>
              <a:t>Yes, LEGO sets for older kids are priced much higher but they often provide better building value despite the larger upfront cost.</a:t>
            </a:r>
            <a:endParaRPr lang="en-US" sz="1800"/>
          </a:p>
          <a:p>
            <a:pPr marL="0" indent="0">
              <a:buNone/>
            </a:pPr>
            <a:endParaRPr lang="en-US" sz="1800"/>
          </a:p>
        </p:txBody>
      </p:sp>
      <p:pic>
        <p:nvPicPr>
          <p:cNvPr id="4" name="Picture 3" descr="A screen shot of a computer&#10;&#10;AI-generated content may be incorrect.">
            <a:extLst>
              <a:ext uri="{FF2B5EF4-FFF2-40B4-BE49-F238E27FC236}">
                <a16:creationId xmlns:a16="http://schemas.microsoft.com/office/drawing/2014/main" id="{046AF1CF-12A6-4512-982E-C246CD497149}"/>
              </a:ext>
            </a:extLst>
          </p:cNvPr>
          <p:cNvPicPr>
            <a:picLocks noChangeAspect="1"/>
          </p:cNvPicPr>
          <p:nvPr/>
        </p:nvPicPr>
        <p:blipFill>
          <a:blip r:embed="rId2"/>
          <a:stretch>
            <a:fillRect/>
          </a:stretch>
        </p:blipFill>
        <p:spPr>
          <a:xfrm>
            <a:off x="7472892" y="1303381"/>
            <a:ext cx="4011094" cy="2826760"/>
          </a:xfrm>
          <a:prstGeom prst="rect">
            <a:avLst/>
          </a:prstGeom>
        </p:spPr>
      </p:pic>
    </p:spTree>
    <p:extLst>
      <p:ext uri="{BB962C8B-B14F-4D97-AF65-F5344CB8AC3E}">
        <p14:creationId xmlns:p14="http://schemas.microsoft.com/office/powerpoint/2010/main" val="166885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6A69B-EB16-4164-32CD-30F61FEF8ADB}"/>
              </a:ext>
            </a:extLst>
          </p:cNvPr>
          <p:cNvSpPr>
            <a:spLocks noGrp="1"/>
          </p:cNvSpPr>
          <p:nvPr>
            <p:ph type="ctrTitle"/>
          </p:nvPr>
        </p:nvSpPr>
        <p:spPr>
          <a:xfrm>
            <a:off x="1524000" y="1016760"/>
            <a:ext cx="9144000" cy="2083056"/>
          </a:xfrm>
        </p:spPr>
        <p:txBody>
          <a:bodyPr/>
          <a:lstStyle/>
          <a:p>
            <a:r>
              <a:rPr lang="en-US" b="0">
                <a:ea typeface="+mj-lt"/>
                <a:cs typeface="+mj-lt"/>
              </a:rPr>
              <a:t>Which LEGO themes have the lowest average price per piece?</a:t>
            </a:r>
            <a:endParaRPr lang="en-US"/>
          </a:p>
        </p:txBody>
      </p:sp>
    </p:spTree>
    <p:extLst>
      <p:ext uri="{BB962C8B-B14F-4D97-AF65-F5344CB8AC3E}">
        <p14:creationId xmlns:p14="http://schemas.microsoft.com/office/powerpoint/2010/main" val="3571728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D15B1DD-CF92-B907-0E68-46A80F6B2579}"/>
              </a:ext>
            </a:extLst>
          </p:cNvPr>
          <p:cNvSpPr>
            <a:spLocks noGrp="1"/>
          </p:cNvSpPr>
          <p:nvPr>
            <p:ph type="title"/>
          </p:nvPr>
        </p:nvSpPr>
        <p:spPr>
          <a:xfrm>
            <a:off x="850392" y="832104"/>
            <a:ext cx="10881360" cy="1069848"/>
          </a:xfrm>
        </p:spPr>
        <p:txBody>
          <a:bodyPr anchor="ctr">
            <a:normAutofit/>
          </a:bodyPr>
          <a:lstStyle/>
          <a:p>
            <a:r>
              <a:rPr lang="en-US"/>
              <a:t>Objective</a:t>
            </a:r>
          </a:p>
        </p:txBody>
      </p:sp>
      <p:sp>
        <p:nvSpPr>
          <p:cNvPr id="10" name="Text Placeholder 3">
            <a:extLst>
              <a:ext uri="{FF2B5EF4-FFF2-40B4-BE49-F238E27FC236}">
                <a16:creationId xmlns:a16="http://schemas.microsoft.com/office/drawing/2014/main" id="{C35278EF-188B-8F26-AABA-A1D835BE5654}"/>
              </a:ext>
            </a:extLst>
          </p:cNvPr>
          <p:cNvSpPr>
            <a:spLocks noGrp="1"/>
          </p:cNvSpPr>
          <p:nvPr>
            <p:ph sz="half" idx="1"/>
          </p:nvPr>
        </p:nvSpPr>
        <p:spPr>
          <a:xfrm>
            <a:off x="838200" y="1825625"/>
            <a:ext cx="5181600" cy="4351338"/>
          </a:xfrm>
        </p:spPr>
        <p:txBody>
          <a:bodyPr vert="horz" lIns="91440" tIns="45720" rIns="91440" bIns="45720" rtlCol="0">
            <a:normAutofit/>
          </a:bodyPr>
          <a:lstStyle/>
          <a:p>
            <a:pPr marL="0" indent="0">
              <a:buNone/>
            </a:pPr>
            <a:r>
              <a:rPr lang="en-US"/>
              <a:t>Identify the most cost-effective LEGO themes based on average price per piece.</a:t>
            </a:r>
          </a:p>
        </p:txBody>
      </p:sp>
      <p:sp>
        <p:nvSpPr>
          <p:cNvPr id="3" name="Subtitle 2">
            <a:extLst>
              <a:ext uri="{FF2B5EF4-FFF2-40B4-BE49-F238E27FC236}">
                <a16:creationId xmlns:a16="http://schemas.microsoft.com/office/drawing/2014/main" id="{87E2E80D-5B99-A8B5-0252-938DF7AE1801}"/>
              </a:ext>
            </a:extLst>
          </p:cNvPr>
          <p:cNvSpPr>
            <a:spLocks noGrp="1"/>
          </p:cNvSpPr>
          <p:nvPr>
            <p:ph sz="half" idx="2"/>
          </p:nvPr>
        </p:nvSpPr>
        <p:spPr>
          <a:xfrm>
            <a:off x="6172200" y="1825625"/>
            <a:ext cx="5181600" cy="4351338"/>
          </a:xfrm>
        </p:spPr>
        <p:txBody>
          <a:bodyPr vert="horz" lIns="91440" tIns="45720" rIns="91440" bIns="45720" rtlCol="0">
            <a:normAutofit/>
          </a:bodyPr>
          <a:lstStyle/>
          <a:p>
            <a:pPr indent="-347345"/>
            <a:r>
              <a:rPr lang="en-US" sz="2200" b="1"/>
              <a:t>Key Insight:</a:t>
            </a:r>
          </a:p>
          <a:p>
            <a:pPr marL="0" indent="0">
              <a:buNone/>
            </a:pPr>
            <a:r>
              <a:rPr lang="en-US" sz="2200"/>
              <a:t>The overall average price per piece is $0.1913, but many themes offer much better value, some under $0.10 per piece.</a:t>
            </a:r>
          </a:p>
          <a:p>
            <a:pPr indent="-347345"/>
            <a:endParaRPr lang="en-US" sz="2200"/>
          </a:p>
          <a:p>
            <a:pPr indent="-347345"/>
            <a:r>
              <a:rPr lang="en-US" sz="2200" b="1"/>
              <a:t>Value Categories:</a:t>
            </a:r>
          </a:p>
          <a:p>
            <a:pPr indent="-347345"/>
            <a:endParaRPr lang="en-US" sz="2200"/>
          </a:p>
          <a:p>
            <a:pPr marL="0" indent="0">
              <a:buNone/>
            </a:pPr>
            <a:r>
              <a:rPr lang="en-US" sz="2200"/>
              <a:t>High Value: &lt; $0.0984 per piece</a:t>
            </a:r>
          </a:p>
          <a:p>
            <a:pPr marL="0" indent="0">
              <a:buNone/>
            </a:pPr>
            <a:r>
              <a:rPr lang="en-US" sz="2200"/>
              <a:t>Medium Value: $0.0984 – $0.1762 per piece</a:t>
            </a:r>
          </a:p>
          <a:p>
            <a:pPr marL="0" indent="0">
              <a:buNone/>
            </a:pPr>
            <a:r>
              <a:rPr lang="en-US" sz="2200"/>
              <a:t>Lower Value: &gt; $0.1762 per piece</a:t>
            </a:r>
          </a:p>
        </p:txBody>
      </p:sp>
      <p:sp>
        <p:nvSpPr>
          <p:cNvPr id="14" name="Slide Number Placeholder 5">
            <a:extLst>
              <a:ext uri="{FF2B5EF4-FFF2-40B4-BE49-F238E27FC236}">
                <a16:creationId xmlns:a16="http://schemas.microsoft.com/office/drawing/2014/main" id="{F2ABE364-940E-61D6-0306-81AD4065E20F}"/>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15</a:t>
            </a:fld>
            <a:endParaRPr lang="en-US"/>
          </a:p>
        </p:txBody>
      </p:sp>
    </p:spTree>
    <p:extLst>
      <p:ext uri="{BB962C8B-B14F-4D97-AF65-F5344CB8AC3E}">
        <p14:creationId xmlns:p14="http://schemas.microsoft.com/office/powerpoint/2010/main" val="2639934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2340-15BE-D930-8801-ADAAA58ED4C3}"/>
              </a:ext>
            </a:extLst>
          </p:cNvPr>
          <p:cNvSpPr>
            <a:spLocks noGrp="1"/>
          </p:cNvSpPr>
          <p:nvPr>
            <p:ph type="title"/>
          </p:nvPr>
        </p:nvSpPr>
        <p:spPr>
          <a:xfrm>
            <a:off x="859463" y="414818"/>
            <a:ext cx="10881360" cy="1069848"/>
          </a:xfrm>
        </p:spPr>
        <p:txBody>
          <a:bodyPr/>
          <a:lstStyle/>
          <a:p>
            <a:r>
              <a:rPr lang="en-US" b="0">
                <a:ea typeface="+mj-lt"/>
                <a:cs typeface="+mj-lt"/>
              </a:rPr>
              <a:t>Top 10 Most Affordable LEGO Themes</a:t>
            </a:r>
            <a:endParaRPr lang="en-US"/>
          </a:p>
        </p:txBody>
      </p:sp>
      <p:graphicFrame>
        <p:nvGraphicFramePr>
          <p:cNvPr id="7" name="Content Placeholder 6">
            <a:extLst>
              <a:ext uri="{FF2B5EF4-FFF2-40B4-BE49-F238E27FC236}">
                <a16:creationId xmlns:a16="http://schemas.microsoft.com/office/drawing/2014/main" id="{74DCD18F-9176-6EC2-7D25-E71494E498B2}"/>
              </a:ext>
            </a:extLst>
          </p:cNvPr>
          <p:cNvGraphicFramePr>
            <a:graphicFrameLocks noGrp="1"/>
          </p:cNvGraphicFramePr>
          <p:nvPr>
            <p:ph idx="1"/>
            <p:extLst>
              <p:ext uri="{D42A27DB-BD31-4B8C-83A1-F6EECF244321}">
                <p14:modId xmlns:p14="http://schemas.microsoft.com/office/powerpoint/2010/main" val="3926231388"/>
              </p:ext>
            </p:extLst>
          </p:nvPr>
        </p:nvGraphicFramePr>
        <p:xfrm>
          <a:off x="1132341" y="1714046"/>
          <a:ext cx="10333035" cy="4749800"/>
        </p:xfrm>
        <a:graphic>
          <a:graphicData uri="http://schemas.openxmlformats.org/drawingml/2006/table">
            <a:tbl>
              <a:tblPr bandRow="1">
                <a:tableStyleId>{5C22544A-7EE6-4342-B048-85BDC9FD1C3A}</a:tableStyleId>
              </a:tblPr>
              <a:tblGrid>
                <a:gridCol w="3444345">
                  <a:extLst>
                    <a:ext uri="{9D8B030D-6E8A-4147-A177-3AD203B41FA5}">
                      <a16:colId xmlns:a16="http://schemas.microsoft.com/office/drawing/2014/main" val="4054969289"/>
                    </a:ext>
                  </a:extLst>
                </a:gridCol>
                <a:gridCol w="3444345">
                  <a:extLst>
                    <a:ext uri="{9D8B030D-6E8A-4147-A177-3AD203B41FA5}">
                      <a16:colId xmlns:a16="http://schemas.microsoft.com/office/drawing/2014/main" val="2605730895"/>
                    </a:ext>
                  </a:extLst>
                </a:gridCol>
                <a:gridCol w="3444345">
                  <a:extLst>
                    <a:ext uri="{9D8B030D-6E8A-4147-A177-3AD203B41FA5}">
                      <a16:colId xmlns:a16="http://schemas.microsoft.com/office/drawing/2014/main" val="3952655747"/>
                    </a:ext>
                  </a:extLst>
                </a:gridCol>
              </a:tblGrid>
              <a:tr h="0">
                <a:tc>
                  <a:txBody>
                    <a:bodyPr/>
                    <a:lstStyle/>
                    <a:p>
                      <a:pPr algn="l">
                        <a:lnSpc>
                          <a:spcPts val="1875"/>
                        </a:lnSpc>
                        <a:buNone/>
                      </a:pPr>
                      <a:r>
                        <a:rPr lang="en-US">
                          <a:effectLst/>
                        </a:rPr>
                        <a:t>Rank</a:t>
                      </a:r>
                    </a:p>
                  </a:txBody>
                  <a:tcPr marR="152400" marT="95250" marB="95250" anchor="ctr"/>
                </a:tc>
                <a:tc>
                  <a:txBody>
                    <a:bodyPr/>
                    <a:lstStyle/>
                    <a:p>
                      <a:pPr algn="l">
                        <a:lnSpc>
                          <a:spcPts val="1875"/>
                        </a:lnSpc>
                        <a:buNone/>
                      </a:pPr>
                      <a:r>
                        <a:rPr lang="en-US">
                          <a:effectLst/>
                        </a:rPr>
                        <a:t>Theme</a:t>
                      </a:r>
                    </a:p>
                  </a:txBody>
                  <a:tcPr marL="152400" marR="152400" marT="95250" marB="95250" anchor="ctr"/>
                </a:tc>
                <a:tc>
                  <a:txBody>
                    <a:bodyPr/>
                    <a:lstStyle/>
                    <a:p>
                      <a:pPr algn="l">
                        <a:lnSpc>
                          <a:spcPts val="1875"/>
                        </a:lnSpc>
                        <a:buNone/>
                      </a:pPr>
                      <a:r>
                        <a:rPr lang="en-US">
                          <a:effectLst/>
                        </a:rPr>
                        <a:t>Avg Price per Piece</a:t>
                      </a:r>
                    </a:p>
                  </a:txBody>
                  <a:tcPr marL="152400" marR="152400" marT="95250" marB="95250" anchor="ctr"/>
                </a:tc>
                <a:extLst>
                  <a:ext uri="{0D108BD9-81ED-4DB2-BD59-A6C34878D82A}">
                    <a16:rowId xmlns:a16="http://schemas.microsoft.com/office/drawing/2014/main" val="308238870"/>
                  </a:ext>
                </a:extLst>
              </a:tr>
              <a:tr h="0">
                <a:tc>
                  <a:txBody>
                    <a:bodyPr/>
                    <a:lstStyle/>
                    <a:p>
                      <a:pPr>
                        <a:lnSpc>
                          <a:spcPts val="1875"/>
                        </a:lnSpc>
                        <a:buNone/>
                      </a:pPr>
                      <a:r>
                        <a:rPr lang="en-US">
                          <a:effectLst/>
                        </a:rPr>
                        <a:t>1</a:t>
                      </a:r>
                    </a:p>
                  </a:txBody>
                  <a:tcPr marR="152400" marT="95250" marB="95250" anchor="ctr"/>
                </a:tc>
                <a:tc>
                  <a:txBody>
                    <a:bodyPr/>
                    <a:lstStyle/>
                    <a:p>
                      <a:pPr>
                        <a:lnSpc>
                          <a:spcPts val="1875"/>
                        </a:lnSpc>
                        <a:buNone/>
                      </a:pPr>
                      <a:r>
                        <a:rPr lang="en-US">
                          <a:effectLst/>
                        </a:rPr>
                        <a:t>Classic</a:t>
                      </a:r>
                    </a:p>
                  </a:txBody>
                  <a:tcPr marL="152400" marR="152400" marT="95250" marB="95250" anchor="ctr"/>
                </a:tc>
                <a:tc>
                  <a:txBody>
                    <a:bodyPr/>
                    <a:lstStyle/>
                    <a:p>
                      <a:pPr>
                        <a:lnSpc>
                          <a:spcPts val="1875"/>
                        </a:lnSpc>
                        <a:buNone/>
                      </a:pPr>
                      <a:r>
                        <a:rPr lang="en-US">
                          <a:effectLst/>
                        </a:rPr>
                        <a:t>$0.069</a:t>
                      </a:r>
                    </a:p>
                  </a:txBody>
                  <a:tcPr marL="152400" marT="95250" marB="95250" anchor="ctr"/>
                </a:tc>
                <a:extLst>
                  <a:ext uri="{0D108BD9-81ED-4DB2-BD59-A6C34878D82A}">
                    <a16:rowId xmlns:a16="http://schemas.microsoft.com/office/drawing/2014/main" val="2761139986"/>
                  </a:ext>
                </a:extLst>
              </a:tr>
              <a:tr h="0">
                <a:tc>
                  <a:txBody>
                    <a:bodyPr/>
                    <a:lstStyle/>
                    <a:p>
                      <a:pPr>
                        <a:lnSpc>
                          <a:spcPts val="1875"/>
                        </a:lnSpc>
                        <a:buNone/>
                      </a:pPr>
                      <a:r>
                        <a:rPr lang="en-US">
                          <a:effectLst/>
                        </a:rPr>
                        <a:t>2</a:t>
                      </a:r>
                    </a:p>
                  </a:txBody>
                  <a:tcPr marR="152400" marT="95250" marB="95250" anchor="ctr"/>
                </a:tc>
                <a:tc>
                  <a:txBody>
                    <a:bodyPr/>
                    <a:lstStyle/>
                    <a:p>
                      <a:pPr>
                        <a:lnSpc>
                          <a:spcPts val="1875"/>
                        </a:lnSpc>
                        <a:buNone/>
                      </a:pPr>
                      <a:r>
                        <a:rPr lang="en-US" err="1">
                          <a:effectLst/>
                        </a:rPr>
                        <a:t>BrickHeadz</a:t>
                      </a:r>
                    </a:p>
                  </a:txBody>
                  <a:tcPr marL="152400" marR="152400" marT="95250" marB="95250" anchor="ctr"/>
                </a:tc>
                <a:tc>
                  <a:txBody>
                    <a:bodyPr/>
                    <a:lstStyle/>
                    <a:p>
                      <a:pPr>
                        <a:lnSpc>
                          <a:spcPts val="1875"/>
                        </a:lnSpc>
                        <a:buNone/>
                      </a:pPr>
                      <a:r>
                        <a:rPr lang="en-US">
                          <a:effectLst/>
                        </a:rPr>
                        <a:t>$0.075</a:t>
                      </a:r>
                    </a:p>
                  </a:txBody>
                  <a:tcPr marL="152400" marT="95250" marB="95250" anchor="ctr"/>
                </a:tc>
                <a:extLst>
                  <a:ext uri="{0D108BD9-81ED-4DB2-BD59-A6C34878D82A}">
                    <a16:rowId xmlns:a16="http://schemas.microsoft.com/office/drawing/2014/main" val="553213174"/>
                  </a:ext>
                </a:extLst>
              </a:tr>
              <a:tr h="0">
                <a:tc>
                  <a:txBody>
                    <a:bodyPr/>
                    <a:lstStyle/>
                    <a:p>
                      <a:pPr>
                        <a:lnSpc>
                          <a:spcPts val="1875"/>
                        </a:lnSpc>
                        <a:buNone/>
                      </a:pPr>
                      <a:r>
                        <a:rPr lang="en-US">
                          <a:effectLst/>
                        </a:rPr>
                        <a:t>3</a:t>
                      </a:r>
                    </a:p>
                  </a:txBody>
                  <a:tcPr marR="152400" marT="95250" marB="95250" anchor="ctr"/>
                </a:tc>
                <a:tc>
                  <a:txBody>
                    <a:bodyPr/>
                    <a:lstStyle/>
                    <a:p>
                      <a:pPr>
                        <a:lnSpc>
                          <a:spcPts val="1875"/>
                        </a:lnSpc>
                        <a:buNone/>
                      </a:pPr>
                      <a:r>
                        <a:rPr lang="en-US">
                          <a:effectLst/>
                        </a:rPr>
                        <a:t>Speed Champions</a:t>
                      </a:r>
                    </a:p>
                  </a:txBody>
                  <a:tcPr marL="152400" marR="152400" marT="95250" marB="95250" anchor="ctr"/>
                </a:tc>
                <a:tc>
                  <a:txBody>
                    <a:bodyPr/>
                    <a:lstStyle/>
                    <a:p>
                      <a:pPr>
                        <a:lnSpc>
                          <a:spcPts val="1875"/>
                        </a:lnSpc>
                        <a:buNone/>
                      </a:pPr>
                      <a:r>
                        <a:rPr lang="en-US">
                          <a:effectLst/>
                        </a:rPr>
                        <a:t>$0.079</a:t>
                      </a:r>
                    </a:p>
                  </a:txBody>
                  <a:tcPr marL="152400" marT="95250" marB="95250" anchor="ctr"/>
                </a:tc>
                <a:extLst>
                  <a:ext uri="{0D108BD9-81ED-4DB2-BD59-A6C34878D82A}">
                    <a16:rowId xmlns:a16="http://schemas.microsoft.com/office/drawing/2014/main" val="117072438"/>
                  </a:ext>
                </a:extLst>
              </a:tr>
              <a:tr h="0">
                <a:tc>
                  <a:txBody>
                    <a:bodyPr/>
                    <a:lstStyle/>
                    <a:p>
                      <a:pPr>
                        <a:lnSpc>
                          <a:spcPts val="1875"/>
                        </a:lnSpc>
                        <a:buNone/>
                      </a:pPr>
                      <a:r>
                        <a:rPr lang="en-US">
                          <a:effectLst/>
                        </a:rPr>
                        <a:t>4</a:t>
                      </a:r>
                    </a:p>
                  </a:txBody>
                  <a:tcPr marR="152400" marT="95250" marB="95250" anchor="ctr"/>
                </a:tc>
                <a:tc>
                  <a:txBody>
                    <a:bodyPr/>
                    <a:lstStyle/>
                    <a:p>
                      <a:pPr>
                        <a:lnSpc>
                          <a:spcPts val="1875"/>
                        </a:lnSpc>
                        <a:buNone/>
                      </a:pPr>
                      <a:r>
                        <a:rPr lang="en-US">
                          <a:effectLst/>
                        </a:rPr>
                        <a:t>Architecture</a:t>
                      </a:r>
                    </a:p>
                  </a:txBody>
                  <a:tcPr marL="152400" marR="152400" marT="95250" marB="95250" anchor="ctr"/>
                </a:tc>
                <a:tc>
                  <a:txBody>
                    <a:bodyPr/>
                    <a:lstStyle/>
                    <a:p>
                      <a:pPr>
                        <a:lnSpc>
                          <a:spcPts val="1875"/>
                        </a:lnSpc>
                        <a:buNone/>
                      </a:pPr>
                      <a:r>
                        <a:rPr lang="en-US">
                          <a:effectLst/>
                        </a:rPr>
                        <a:t>$0.082</a:t>
                      </a:r>
                    </a:p>
                  </a:txBody>
                  <a:tcPr marL="152400" marT="95250" marB="95250" anchor="ctr"/>
                </a:tc>
                <a:extLst>
                  <a:ext uri="{0D108BD9-81ED-4DB2-BD59-A6C34878D82A}">
                    <a16:rowId xmlns:a16="http://schemas.microsoft.com/office/drawing/2014/main" val="2728405069"/>
                  </a:ext>
                </a:extLst>
              </a:tr>
              <a:tr h="0">
                <a:tc>
                  <a:txBody>
                    <a:bodyPr/>
                    <a:lstStyle/>
                    <a:p>
                      <a:pPr>
                        <a:lnSpc>
                          <a:spcPts val="1875"/>
                        </a:lnSpc>
                        <a:buNone/>
                      </a:pPr>
                      <a:r>
                        <a:rPr lang="en-US">
                          <a:effectLst/>
                        </a:rPr>
                        <a:t>5</a:t>
                      </a:r>
                    </a:p>
                  </a:txBody>
                  <a:tcPr marR="152400" marT="95250" marB="95250" anchor="ctr"/>
                </a:tc>
                <a:tc>
                  <a:txBody>
                    <a:bodyPr/>
                    <a:lstStyle/>
                    <a:p>
                      <a:pPr>
                        <a:lnSpc>
                          <a:spcPts val="1875"/>
                        </a:lnSpc>
                        <a:buNone/>
                      </a:pPr>
                      <a:r>
                        <a:rPr lang="en-US">
                          <a:effectLst/>
                        </a:rPr>
                        <a:t>Ideas</a:t>
                      </a:r>
                    </a:p>
                  </a:txBody>
                  <a:tcPr marL="152400" marR="152400" marT="95250" marB="95250" anchor="ctr"/>
                </a:tc>
                <a:tc>
                  <a:txBody>
                    <a:bodyPr/>
                    <a:lstStyle/>
                    <a:p>
                      <a:pPr>
                        <a:lnSpc>
                          <a:spcPts val="1875"/>
                        </a:lnSpc>
                        <a:buNone/>
                      </a:pPr>
                      <a:r>
                        <a:rPr lang="en-US">
                          <a:effectLst/>
                        </a:rPr>
                        <a:t>$0.086</a:t>
                      </a:r>
                    </a:p>
                  </a:txBody>
                  <a:tcPr marL="152400" marT="95250" marB="95250" anchor="ctr"/>
                </a:tc>
                <a:extLst>
                  <a:ext uri="{0D108BD9-81ED-4DB2-BD59-A6C34878D82A}">
                    <a16:rowId xmlns:a16="http://schemas.microsoft.com/office/drawing/2014/main" val="597259822"/>
                  </a:ext>
                </a:extLst>
              </a:tr>
              <a:tr h="0">
                <a:tc>
                  <a:txBody>
                    <a:bodyPr/>
                    <a:lstStyle/>
                    <a:p>
                      <a:pPr>
                        <a:lnSpc>
                          <a:spcPts val="1875"/>
                        </a:lnSpc>
                        <a:buNone/>
                      </a:pPr>
                      <a:r>
                        <a:rPr lang="en-US">
                          <a:effectLst/>
                        </a:rPr>
                        <a:t>6</a:t>
                      </a:r>
                    </a:p>
                  </a:txBody>
                  <a:tcPr marR="152400" marT="95250" marB="95250" anchor="ctr"/>
                </a:tc>
                <a:tc>
                  <a:txBody>
                    <a:bodyPr/>
                    <a:lstStyle/>
                    <a:p>
                      <a:pPr>
                        <a:lnSpc>
                          <a:spcPts val="1875"/>
                        </a:lnSpc>
                        <a:buNone/>
                      </a:pPr>
                      <a:r>
                        <a:rPr lang="en-US">
                          <a:effectLst/>
                        </a:rPr>
                        <a:t>Creator 3-in-1</a:t>
                      </a:r>
                    </a:p>
                  </a:txBody>
                  <a:tcPr marL="152400" marR="152400" marT="95250" marB="95250" anchor="ctr"/>
                </a:tc>
                <a:tc>
                  <a:txBody>
                    <a:bodyPr/>
                    <a:lstStyle/>
                    <a:p>
                      <a:pPr>
                        <a:lnSpc>
                          <a:spcPts val="1875"/>
                        </a:lnSpc>
                        <a:buNone/>
                      </a:pPr>
                      <a:r>
                        <a:rPr lang="en-US">
                          <a:effectLst/>
                        </a:rPr>
                        <a:t>$0.089</a:t>
                      </a:r>
                    </a:p>
                  </a:txBody>
                  <a:tcPr marL="152400" marT="95250" marB="95250" anchor="ctr"/>
                </a:tc>
                <a:extLst>
                  <a:ext uri="{0D108BD9-81ED-4DB2-BD59-A6C34878D82A}">
                    <a16:rowId xmlns:a16="http://schemas.microsoft.com/office/drawing/2014/main" val="2257478104"/>
                  </a:ext>
                </a:extLst>
              </a:tr>
              <a:tr h="0">
                <a:tc>
                  <a:txBody>
                    <a:bodyPr/>
                    <a:lstStyle/>
                    <a:p>
                      <a:pPr>
                        <a:lnSpc>
                          <a:spcPts val="1875"/>
                        </a:lnSpc>
                        <a:buNone/>
                      </a:pPr>
                      <a:r>
                        <a:rPr lang="en-US">
                          <a:effectLst/>
                        </a:rPr>
                        <a:t>7</a:t>
                      </a:r>
                    </a:p>
                  </a:txBody>
                  <a:tcPr marR="152400" marT="95250" marB="95250" anchor="ctr"/>
                </a:tc>
                <a:tc>
                  <a:txBody>
                    <a:bodyPr/>
                    <a:lstStyle/>
                    <a:p>
                      <a:pPr>
                        <a:lnSpc>
                          <a:spcPts val="1875"/>
                        </a:lnSpc>
                        <a:buNone/>
                      </a:pPr>
                      <a:r>
                        <a:rPr lang="en-US">
                          <a:effectLst/>
                        </a:rPr>
                        <a:t>Unikitty!™</a:t>
                      </a:r>
                    </a:p>
                  </a:txBody>
                  <a:tcPr marL="152400" marR="152400" marT="95250" marB="95250" anchor="ctr"/>
                </a:tc>
                <a:tc>
                  <a:txBody>
                    <a:bodyPr/>
                    <a:lstStyle/>
                    <a:p>
                      <a:pPr>
                        <a:lnSpc>
                          <a:spcPts val="1875"/>
                        </a:lnSpc>
                        <a:buNone/>
                      </a:pPr>
                      <a:r>
                        <a:rPr lang="en-US">
                          <a:effectLst/>
                        </a:rPr>
                        <a:t>$0.089</a:t>
                      </a:r>
                    </a:p>
                  </a:txBody>
                  <a:tcPr marL="152400" marT="95250" marB="95250" anchor="ctr"/>
                </a:tc>
                <a:extLst>
                  <a:ext uri="{0D108BD9-81ED-4DB2-BD59-A6C34878D82A}">
                    <a16:rowId xmlns:a16="http://schemas.microsoft.com/office/drawing/2014/main" val="3218902810"/>
                  </a:ext>
                </a:extLst>
              </a:tr>
              <a:tr h="0">
                <a:tc>
                  <a:txBody>
                    <a:bodyPr/>
                    <a:lstStyle/>
                    <a:p>
                      <a:pPr>
                        <a:lnSpc>
                          <a:spcPts val="1875"/>
                        </a:lnSpc>
                        <a:buNone/>
                      </a:pPr>
                      <a:r>
                        <a:rPr lang="en-US">
                          <a:effectLst/>
                        </a:rPr>
                        <a:t>8</a:t>
                      </a:r>
                    </a:p>
                  </a:txBody>
                  <a:tcPr marR="152400" marT="95250" marB="95250" anchor="ctr"/>
                </a:tc>
                <a:tc>
                  <a:txBody>
                    <a:bodyPr/>
                    <a:lstStyle/>
                    <a:p>
                      <a:pPr>
                        <a:lnSpc>
                          <a:spcPts val="1875"/>
                        </a:lnSpc>
                        <a:buNone/>
                      </a:pPr>
                      <a:r>
                        <a:rPr lang="en-US">
                          <a:effectLst/>
                        </a:rPr>
                        <a:t>Creator Expert</a:t>
                      </a:r>
                    </a:p>
                  </a:txBody>
                  <a:tcPr marL="152400" marR="152400" marT="95250" marB="95250" anchor="ctr"/>
                </a:tc>
                <a:tc>
                  <a:txBody>
                    <a:bodyPr/>
                    <a:lstStyle/>
                    <a:p>
                      <a:pPr>
                        <a:lnSpc>
                          <a:spcPts val="1875"/>
                        </a:lnSpc>
                        <a:buNone/>
                      </a:pPr>
                      <a:r>
                        <a:rPr lang="en-US">
                          <a:effectLst/>
                        </a:rPr>
                        <a:t>$0.096</a:t>
                      </a:r>
                    </a:p>
                  </a:txBody>
                  <a:tcPr marL="152400" marT="95250" marB="95250" anchor="ctr"/>
                </a:tc>
                <a:extLst>
                  <a:ext uri="{0D108BD9-81ED-4DB2-BD59-A6C34878D82A}">
                    <a16:rowId xmlns:a16="http://schemas.microsoft.com/office/drawing/2014/main" val="4192092230"/>
                  </a:ext>
                </a:extLst>
              </a:tr>
              <a:tr h="0">
                <a:tc>
                  <a:txBody>
                    <a:bodyPr/>
                    <a:lstStyle/>
                    <a:p>
                      <a:pPr>
                        <a:lnSpc>
                          <a:spcPts val="1875"/>
                        </a:lnSpc>
                        <a:buNone/>
                      </a:pPr>
                      <a:r>
                        <a:rPr lang="en-US">
                          <a:effectLst/>
                        </a:rPr>
                        <a:t>9</a:t>
                      </a:r>
                    </a:p>
                  </a:txBody>
                  <a:tcPr marR="152400" marT="95250" marB="95250" anchor="ctr"/>
                </a:tc>
                <a:tc>
                  <a:txBody>
                    <a:bodyPr/>
                    <a:lstStyle/>
                    <a:p>
                      <a:pPr>
                        <a:lnSpc>
                          <a:spcPts val="1875"/>
                        </a:lnSpc>
                        <a:buNone/>
                      </a:pPr>
                      <a:r>
                        <a:rPr lang="en-US">
                          <a:effectLst/>
                        </a:rPr>
                        <a:t>Hidden Side</a:t>
                      </a:r>
                    </a:p>
                  </a:txBody>
                  <a:tcPr marL="152400" marR="152400" marT="95250" marB="95250" anchor="ctr"/>
                </a:tc>
                <a:tc>
                  <a:txBody>
                    <a:bodyPr/>
                    <a:lstStyle/>
                    <a:p>
                      <a:pPr>
                        <a:lnSpc>
                          <a:spcPts val="1875"/>
                        </a:lnSpc>
                        <a:buNone/>
                      </a:pPr>
                      <a:r>
                        <a:rPr lang="en-US">
                          <a:effectLst/>
                        </a:rPr>
                        <a:t>$0.098</a:t>
                      </a:r>
                    </a:p>
                  </a:txBody>
                  <a:tcPr marL="152400" marT="95250" marB="95250" anchor="ctr"/>
                </a:tc>
                <a:extLst>
                  <a:ext uri="{0D108BD9-81ED-4DB2-BD59-A6C34878D82A}">
                    <a16:rowId xmlns:a16="http://schemas.microsoft.com/office/drawing/2014/main" val="1238427531"/>
                  </a:ext>
                </a:extLst>
              </a:tr>
              <a:tr h="0">
                <a:tc>
                  <a:txBody>
                    <a:bodyPr/>
                    <a:lstStyle/>
                    <a:p>
                      <a:pPr>
                        <a:lnSpc>
                          <a:spcPts val="1875"/>
                        </a:lnSpc>
                        <a:buNone/>
                      </a:pPr>
                      <a:r>
                        <a:rPr lang="en-US">
                          <a:effectLst/>
                        </a:rPr>
                        <a:t>10</a:t>
                      </a:r>
                    </a:p>
                  </a:txBody>
                  <a:tcPr marR="152400" marT="95250" marB="95250" anchor="ctr"/>
                </a:tc>
                <a:tc>
                  <a:txBody>
                    <a:bodyPr/>
                    <a:lstStyle/>
                    <a:p>
                      <a:pPr>
                        <a:lnSpc>
                          <a:spcPts val="1875"/>
                        </a:lnSpc>
                        <a:buNone/>
                      </a:pPr>
                      <a:r>
                        <a:rPr lang="en-US">
                          <a:effectLst/>
                        </a:rPr>
                        <a:t>Overwatch®</a:t>
                      </a:r>
                    </a:p>
                  </a:txBody>
                  <a:tcPr marL="152400" marR="152400" marT="95250" marB="95250" anchor="ctr"/>
                </a:tc>
                <a:tc>
                  <a:txBody>
                    <a:bodyPr/>
                    <a:lstStyle/>
                    <a:p>
                      <a:pPr>
                        <a:lnSpc>
                          <a:spcPts val="1875"/>
                        </a:lnSpc>
                        <a:buNone/>
                      </a:pPr>
                      <a:r>
                        <a:rPr lang="en-US">
                          <a:effectLst/>
                        </a:rPr>
                        <a:t>$0.100</a:t>
                      </a:r>
                    </a:p>
                  </a:txBody>
                  <a:tcPr marL="152400" marT="95250" marB="95250" anchor="ctr"/>
                </a:tc>
                <a:extLst>
                  <a:ext uri="{0D108BD9-81ED-4DB2-BD59-A6C34878D82A}">
                    <a16:rowId xmlns:a16="http://schemas.microsoft.com/office/drawing/2014/main" val="3309383917"/>
                  </a:ext>
                </a:extLst>
              </a:tr>
            </a:tbl>
          </a:graphicData>
        </a:graphic>
      </p:graphicFrame>
      <p:sp>
        <p:nvSpPr>
          <p:cNvPr id="4" name="Slide Number Placeholder 3">
            <a:extLst>
              <a:ext uri="{FF2B5EF4-FFF2-40B4-BE49-F238E27FC236}">
                <a16:creationId xmlns:a16="http://schemas.microsoft.com/office/drawing/2014/main" id="{D0FDC994-5901-3010-CD9F-D7D8CE6752FE}"/>
              </a:ext>
            </a:extLst>
          </p:cNvPr>
          <p:cNvSpPr>
            <a:spLocks noGrp="1"/>
          </p:cNvSpPr>
          <p:nvPr>
            <p:ph type="sldNum" sz="quarter" idx="11"/>
          </p:nvPr>
        </p:nvSpPr>
        <p:spPr/>
        <p:txBody>
          <a:bodyPr/>
          <a:lstStyle/>
          <a:p>
            <a:fld id="{294A09A9-5501-47C1-A89A-A340965A2BE2}" type="slidenum">
              <a:rPr lang="en-US" smtClean="0"/>
              <a:pPr/>
              <a:t>16</a:t>
            </a:fld>
            <a:endParaRPr lang="en-US"/>
          </a:p>
        </p:txBody>
      </p:sp>
    </p:spTree>
    <p:extLst>
      <p:ext uri="{BB962C8B-B14F-4D97-AF65-F5344CB8AC3E}">
        <p14:creationId xmlns:p14="http://schemas.microsoft.com/office/powerpoint/2010/main" val="2056592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4025B03-7FAD-1FA7-D8CC-B55E2C240CF4}"/>
              </a:ext>
            </a:extLst>
          </p:cNvPr>
          <p:cNvPicPr>
            <a:picLocks noGrp="1" noChangeAspect="1"/>
          </p:cNvPicPr>
          <p:nvPr>
            <p:ph idx="1"/>
          </p:nvPr>
        </p:nvPicPr>
        <p:blipFill>
          <a:blip r:embed="rId2"/>
          <a:srcRect b="881"/>
          <a:stretch>
            <a:fillRect/>
          </a:stretch>
        </p:blipFill>
        <p:spPr>
          <a:xfrm>
            <a:off x="20" y="10"/>
            <a:ext cx="12191980" cy="6857990"/>
          </a:xfrm>
          <a:prstGeom prst="rect">
            <a:avLst/>
          </a:prstGeom>
          <a:noFill/>
        </p:spPr>
      </p:pic>
      <p:sp>
        <p:nvSpPr>
          <p:cNvPr id="5" name="Footer Placeholder 4">
            <a:extLst>
              <a:ext uri="{FF2B5EF4-FFF2-40B4-BE49-F238E27FC236}">
                <a16:creationId xmlns:a16="http://schemas.microsoft.com/office/drawing/2014/main" id="{CBC6564F-B955-2EC0-1990-5C2418CA4A52}"/>
              </a:ext>
            </a:extLst>
          </p:cNvPr>
          <p:cNvSpPr>
            <a:spLocks noGrp="1"/>
          </p:cNvSpPr>
          <p:nvPr>
            <p:ph type="ftr" sz="quarter" idx="4294967295"/>
          </p:nvPr>
        </p:nvSpPr>
        <p:spPr>
          <a:xfrm>
            <a:off x="466344" y="6190488"/>
            <a:ext cx="2331720" cy="274320"/>
          </a:xfrm>
        </p:spPr>
        <p:txBody>
          <a:bodyPr/>
          <a:lstStyle/>
          <a:p>
            <a:pPr>
              <a:spcAft>
                <a:spcPts val="600"/>
              </a:spcAft>
            </a:pPr>
            <a:r>
              <a:rPr lang="en-US"/>
              <a:t>Crypto: investing &amp; trading</a:t>
            </a:r>
          </a:p>
        </p:txBody>
      </p:sp>
      <p:sp>
        <p:nvSpPr>
          <p:cNvPr id="6" name="Slide Number Placeholder 5" hidden="1">
            <a:extLst>
              <a:ext uri="{FF2B5EF4-FFF2-40B4-BE49-F238E27FC236}">
                <a16:creationId xmlns:a16="http://schemas.microsoft.com/office/drawing/2014/main" id="{49DEC8BC-0855-385D-6EAA-993AFD47BC39}"/>
              </a:ext>
            </a:extLst>
          </p:cNvPr>
          <p:cNvSpPr>
            <a:spLocks noGrp="1"/>
          </p:cNvSpPr>
          <p:nvPr>
            <p:ph type="sldNum" sz="quarter" idx="4294967295"/>
          </p:nvPr>
        </p:nvSpPr>
        <p:spPr>
          <a:xfrm>
            <a:off x="329184" y="411480"/>
            <a:ext cx="521208" cy="310896"/>
          </a:xfrm>
        </p:spPr>
        <p:txBody>
          <a:bodyPr/>
          <a:lstStyle/>
          <a:p>
            <a:pPr>
              <a:spcAft>
                <a:spcPts val="600"/>
              </a:spcAft>
            </a:pPr>
            <a:fld id="{294A09A9-5501-47C1-A89A-A340965A2BE2}" type="slidenum">
              <a:rPr lang="en-US" smtClean="0"/>
              <a:pPr>
                <a:spcAft>
                  <a:spcPts val="600"/>
                </a:spcAft>
              </a:pPr>
              <a:t>17</a:t>
            </a:fld>
            <a:endParaRPr lang="en-US"/>
          </a:p>
        </p:txBody>
      </p:sp>
    </p:spTree>
    <p:extLst>
      <p:ext uri="{BB962C8B-B14F-4D97-AF65-F5344CB8AC3E}">
        <p14:creationId xmlns:p14="http://schemas.microsoft.com/office/powerpoint/2010/main" val="36740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E550-3447-4871-F0C8-90713894D152}"/>
              </a:ext>
            </a:extLst>
          </p:cNvPr>
          <p:cNvSpPr>
            <a:spLocks noGrp="1"/>
          </p:cNvSpPr>
          <p:nvPr>
            <p:ph type="title"/>
          </p:nvPr>
        </p:nvSpPr>
        <p:spPr>
          <a:xfrm>
            <a:off x="859463" y="414818"/>
            <a:ext cx="10881360" cy="679777"/>
          </a:xfrm>
        </p:spPr>
        <p:txBody>
          <a:bodyPr/>
          <a:lstStyle/>
          <a:p>
            <a:r>
              <a:rPr lang="en-US"/>
              <a:t>Key Takeaways</a:t>
            </a:r>
          </a:p>
        </p:txBody>
      </p:sp>
      <p:sp>
        <p:nvSpPr>
          <p:cNvPr id="3" name="Content Placeholder 2">
            <a:extLst>
              <a:ext uri="{FF2B5EF4-FFF2-40B4-BE49-F238E27FC236}">
                <a16:creationId xmlns:a16="http://schemas.microsoft.com/office/drawing/2014/main" id="{0728DBF8-346E-06D7-E8D8-5EA9E165A204}"/>
              </a:ext>
            </a:extLst>
          </p:cNvPr>
          <p:cNvSpPr>
            <a:spLocks noGrp="1"/>
          </p:cNvSpPr>
          <p:nvPr>
            <p:ph idx="1"/>
          </p:nvPr>
        </p:nvSpPr>
        <p:spPr>
          <a:xfrm>
            <a:off x="860771" y="1196847"/>
            <a:ext cx="10795361" cy="4781588"/>
          </a:xfrm>
        </p:spPr>
        <p:txBody>
          <a:bodyPr vert="horz" lIns="91440" tIns="45720" rIns="91440" bIns="45720" rtlCol="0" anchor="t">
            <a:noAutofit/>
          </a:bodyPr>
          <a:lstStyle/>
          <a:p>
            <a:pPr marL="0" indent="0">
              <a:buNone/>
            </a:pPr>
            <a:r>
              <a:rPr lang="en-US" sz="1500" b="1">
                <a:ea typeface="+mn-lt"/>
                <a:cs typeface="+mn-lt"/>
              </a:rPr>
              <a:t>Summary of Findings:</a:t>
            </a:r>
            <a:endParaRPr lang="en-US" sz="1500" b="1"/>
          </a:p>
          <a:p>
            <a:pPr indent="-347345"/>
            <a:r>
              <a:rPr lang="en-US" sz="1500">
                <a:ea typeface="+mn-lt"/>
                <a:cs typeface="+mn-lt"/>
              </a:rPr>
              <a:t>Classic is the most affordable theme at $0.069 per piece.</a:t>
            </a:r>
            <a:endParaRPr lang="en-US" sz="1500"/>
          </a:p>
          <a:p>
            <a:pPr indent="-347345"/>
            <a:r>
              <a:rPr lang="en-US" sz="1500">
                <a:ea typeface="+mn-lt"/>
                <a:cs typeface="+mn-lt"/>
              </a:rPr>
              <a:t>Themes like </a:t>
            </a:r>
            <a:r>
              <a:rPr lang="en-US" sz="1500" err="1">
                <a:ea typeface="+mn-lt"/>
                <a:cs typeface="+mn-lt"/>
              </a:rPr>
              <a:t>BrickHeadz</a:t>
            </a:r>
            <a:r>
              <a:rPr lang="en-US" sz="1500">
                <a:ea typeface="+mn-lt"/>
                <a:cs typeface="+mn-lt"/>
              </a:rPr>
              <a:t>, Speed Champions, and Architecture also offer excellent value.</a:t>
            </a:r>
            <a:endParaRPr lang="en-US" sz="1500"/>
          </a:p>
          <a:p>
            <a:pPr indent="-347345"/>
            <a:r>
              <a:rPr lang="en-US" sz="1500">
                <a:ea typeface="+mn-lt"/>
                <a:cs typeface="+mn-lt"/>
              </a:rPr>
              <a:t>Large, complex sets (e.g., Creator Expert, Ideas) can still be cost-effective despite higher total prices.</a:t>
            </a:r>
            <a:endParaRPr lang="en-US" sz="1500"/>
          </a:p>
          <a:p>
            <a:pPr indent="-347345"/>
            <a:endParaRPr lang="en-US" sz="1500">
              <a:ea typeface="+mn-lt"/>
              <a:cs typeface="+mn-lt"/>
            </a:endParaRPr>
          </a:p>
          <a:p>
            <a:pPr marL="0" indent="0">
              <a:buNone/>
            </a:pPr>
            <a:r>
              <a:rPr lang="en-US" sz="1500" b="1">
                <a:ea typeface="+mn-lt"/>
                <a:cs typeface="+mn-lt"/>
              </a:rPr>
              <a:t>Why Price per Piece Matters:</a:t>
            </a:r>
            <a:endParaRPr lang="en-US" sz="1500" b="1"/>
          </a:p>
          <a:p>
            <a:pPr indent="-347345"/>
            <a:r>
              <a:rPr lang="en-US" sz="1500">
                <a:ea typeface="+mn-lt"/>
                <a:cs typeface="+mn-lt"/>
              </a:rPr>
              <a:t>Helps identify budget-friendly building options.</a:t>
            </a:r>
            <a:endParaRPr lang="en-US" sz="1500"/>
          </a:p>
          <a:p>
            <a:pPr indent="-347345"/>
            <a:r>
              <a:rPr lang="en-US" sz="1500">
                <a:ea typeface="+mn-lt"/>
                <a:cs typeface="+mn-lt"/>
              </a:rPr>
              <a:t>Useful for gift buyers, collectors, and parents.</a:t>
            </a:r>
            <a:endParaRPr lang="en-US" sz="1500"/>
          </a:p>
          <a:p>
            <a:pPr indent="-347345"/>
            <a:r>
              <a:rPr lang="en-US" sz="1500">
                <a:ea typeface="+mn-lt"/>
                <a:cs typeface="+mn-lt"/>
              </a:rPr>
              <a:t>Does not account for piece size, complexity, or licensing costs.</a:t>
            </a:r>
            <a:endParaRPr lang="en-US" sz="1500"/>
          </a:p>
          <a:p>
            <a:pPr indent="-347345"/>
            <a:endParaRPr lang="en-US" sz="1500">
              <a:ea typeface="+mn-lt"/>
              <a:cs typeface="+mn-lt"/>
            </a:endParaRPr>
          </a:p>
          <a:p>
            <a:pPr marL="0" indent="0">
              <a:buNone/>
            </a:pPr>
            <a:r>
              <a:rPr lang="en-US" sz="1500" b="1">
                <a:ea typeface="+mn-lt"/>
                <a:cs typeface="+mn-lt"/>
              </a:rPr>
              <a:t>Recommendations for Buyers:</a:t>
            </a:r>
            <a:endParaRPr lang="en-US" sz="1500" b="1"/>
          </a:p>
          <a:p>
            <a:pPr indent="-347345"/>
            <a:r>
              <a:rPr lang="en-US" sz="1500">
                <a:ea typeface="+mn-lt"/>
                <a:cs typeface="+mn-lt"/>
              </a:rPr>
              <a:t>Choose Classic or </a:t>
            </a:r>
            <a:r>
              <a:rPr lang="en-US" sz="1500" err="1">
                <a:ea typeface="+mn-lt"/>
                <a:cs typeface="+mn-lt"/>
              </a:rPr>
              <a:t>BrickHeadz</a:t>
            </a:r>
            <a:r>
              <a:rPr lang="en-US" sz="1500">
                <a:ea typeface="+mn-lt"/>
                <a:cs typeface="+mn-lt"/>
              </a:rPr>
              <a:t> for the best price-to-piece ratio.</a:t>
            </a:r>
            <a:endParaRPr lang="en-US" sz="1500"/>
          </a:p>
          <a:p>
            <a:pPr indent="-347345"/>
            <a:r>
              <a:rPr lang="en-US" sz="1500">
                <a:ea typeface="+mn-lt"/>
                <a:cs typeface="+mn-lt"/>
              </a:rPr>
              <a:t>Consider Speed Champions for affordable, detailed vehicle sets.</a:t>
            </a:r>
            <a:endParaRPr lang="en-US" sz="1500"/>
          </a:p>
          <a:p>
            <a:pPr indent="-347345"/>
            <a:r>
              <a:rPr lang="en-US" sz="1500">
                <a:ea typeface="+mn-lt"/>
                <a:cs typeface="+mn-lt"/>
              </a:rPr>
              <a:t>Explore Architecture and Ideas for premium yet value-rich builds.</a:t>
            </a:r>
            <a:endParaRPr lang="en-US" sz="1500"/>
          </a:p>
        </p:txBody>
      </p:sp>
      <p:sp>
        <p:nvSpPr>
          <p:cNvPr id="4" name="Slide Number Placeholder 3">
            <a:extLst>
              <a:ext uri="{FF2B5EF4-FFF2-40B4-BE49-F238E27FC236}">
                <a16:creationId xmlns:a16="http://schemas.microsoft.com/office/drawing/2014/main" id="{380F4E7F-E117-FC7B-E498-EE313C9E8C4F}"/>
              </a:ext>
            </a:extLst>
          </p:cNvPr>
          <p:cNvSpPr>
            <a:spLocks noGrp="1"/>
          </p:cNvSpPr>
          <p:nvPr>
            <p:ph type="sldNum" sz="quarter" idx="11"/>
          </p:nvPr>
        </p:nvSpPr>
        <p:spPr/>
        <p:txBody>
          <a:bodyPr/>
          <a:lstStyle/>
          <a:p>
            <a:fld id="{294A09A9-5501-47C1-A89A-A340965A2BE2}" type="slidenum">
              <a:rPr lang="en-US" smtClean="0"/>
              <a:pPr/>
              <a:t>18</a:t>
            </a:fld>
            <a:endParaRPr lang="en-US"/>
          </a:p>
        </p:txBody>
      </p:sp>
    </p:spTree>
    <p:extLst>
      <p:ext uri="{BB962C8B-B14F-4D97-AF65-F5344CB8AC3E}">
        <p14:creationId xmlns:p14="http://schemas.microsoft.com/office/powerpoint/2010/main" val="4216422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765E-919B-0F36-1969-A47D7A77A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436B2-E08A-161E-36F3-33EF14E74DD2}"/>
              </a:ext>
            </a:extLst>
          </p:cNvPr>
          <p:cNvSpPr>
            <a:spLocks noGrp="1"/>
          </p:cNvSpPr>
          <p:nvPr>
            <p:ph type="ctrTitle"/>
          </p:nvPr>
        </p:nvSpPr>
        <p:spPr>
          <a:xfrm>
            <a:off x="1300976" y="1262269"/>
            <a:ext cx="9144000" cy="2157091"/>
          </a:xfrm>
        </p:spPr>
        <p:txBody>
          <a:bodyPr/>
          <a:lstStyle/>
          <a:p>
            <a:r>
              <a:rPr lang="en-US" sz="4500" b="0">
                <a:solidFill>
                  <a:srgbClr val="FFFFFF"/>
                </a:solidFill>
                <a:ea typeface="+mj-lt"/>
                <a:cs typeface="+mj-lt"/>
              </a:rPr>
              <a:t>Do sets with more piece's cost less per piece?</a:t>
            </a:r>
            <a:endParaRPr lang="en-US" sz="4500">
              <a:solidFill>
                <a:srgbClr val="FFFFFF"/>
              </a:solidFill>
            </a:endParaRPr>
          </a:p>
          <a:p>
            <a:endParaRPr lang="en-US" sz="4500">
              <a:solidFill>
                <a:srgbClr val="FFFFFF"/>
              </a:solidFill>
            </a:endParaRPr>
          </a:p>
        </p:txBody>
      </p:sp>
      <p:sp>
        <p:nvSpPr>
          <p:cNvPr id="3" name="Subtitle 2">
            <a:extLst>
              <a:ext uri="{FF2B5EF4-FFF2-40B4-BE49-F238E27FC236}">
                <a16:creationId xmlns:a16="http://schemas.microsoft.com/office/drawing/2014/main" id="{E4EBE998-817C-B63E-02F8-7510831A7753}"/>
              </a:ext>
            </a:extLst>
          </p:cNvPr>
          <p:cNvSpPr>
            <a:spLocks noGrp="1"/>
          </p:cNvSpPr>
          <p:nvPr>
            <p:ph type="subTitle" idx="1"/>
          </p:nvPr>
        </p:nvSpPr>
        <p:spPr>
          <a:xfrm>
            <a:off x="2489200" y="2961987"/>
            <a:ext cx="7068312" cy="758952"/>
          </a:xfrm>
        </p:spPr>
        <p:txBody>
          <a:bodyPr vert="horz" lIns="91440" tIns="45720" rIns="91440" bIns="45720" rtlCol="0" anchor="t">
            <a:noAutofit/>
          </a:bodyPr>
          <a:lstStyle/>
          <a:p>
            <a:r>
              <a:rPr lang="en-US" b="1">
                <a:cs typeface="Segoe UI Light"/>
              </a:rPr>
              <a:t>Are larger LEGO sets cheaper per piece?</a:t>
            </a:r>
            <a:endParaRPr lang="en-US" b="1"/>
          </a:p>
        </p:txBody>
      </p:sp>
      <p:sp>
        <p:nvSpPr>
          <p:cNvPr id="6" name="TextBox 5">
            <a:extLst>
              <a:ext uri="{FF2B5EF4-FFF2-40B4-BE49-F238E27FC236}">
                <a16:creationId xmlns:a16="http://schemas.microsoft.com/office/drawing/2014/main" id="{0D48E9D0-D329-0E30-EB9B-3C46CCA3044C}"/>
              </a:ext>
            </a:extLst>
          </p:cNvPr>
          <p:cNvSpPr txBox="1"/>
          <p:nvPr/>
        </p:nvSpPr>
        <p:spPr>
          <a:xfrm>
            <a:off x="1310640" y="3911599"/>
            <a:ext cx="94284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cs typeface="Segoe UI Light"/>
              </a:rPr>
              <a:t>Why this matters:</a:t>
            </a:r>
          </a:p>
          <a:p>
            <a:r>
              <a:rPr lang="en-US">
                <a:solidFill>
                  <a:schemeClr val="bg1"/>
                </a:solidFill>
                <a:cs typeface="Segoe UI Light"/>
              </a:rPr>
              <a:t>Consumers evaluate LEGO value using price per piece.</a:t>
            </a:r>
            <a:br>
              <a:rPr lang="en-US">
                <a:cs typeface="Segoe UI Light"/>
              </a:rPr>
            </a:br>
            <a:r>
              <a:rPr lang="en-US">
                <a:solidFill>
                  <a:schemeClr val="bg1"/>
                </a:solidFill>
                <a:cs typeface="Segoe UI Light"/>
              </a:rPr>
              <a:t>Understanding this relationship supports decisions on pricing, bundling, and marketing.</a:t>
            </a:r>
            <a:endParaRPr lang="en-US">
              <a:solidFill>
                <a:schemeClr val="bg1"/>
              </a:solidFill>
            </a:endParaRPr>
          </a:p>
        </p:txBody>
      </p:sp>
    </p:spTree>
    <p:extLst>
      <p:ext uri="{BB962C8B-B14F-4D97-AF65-F5344CB8AC3E}">
        <p14:creationId xmlns:p14="http://schemas.microsoft.com/office/powerpoint/2010/main" val="787299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468968-73D3-538F-E0EB-2FC63A2B218B}"/>
              </a:ext>
            </a:extLst>
          </p:cNvPr>
          <p:cNvSpPr>
            <a:spLocks noGrp="1"/>
          </p:cNvSpPr>
          <p:nvPr>
            <p:ph type="sldNum" sz="quarter" idx="12"/>
          </p:nvPr>
        </p:nvSpPr>
        <p:spPr/>
        <p:txBody>
          <a:bodyPr/>
          <a:lstStyle/>
          <a:p>
            <a:fld id="{294A09A9-5501-47C1-A89A-A340965A2BE2}" type="slidenum">
              <a:rPr lang="en-US" smtClean="0"/>
              <a:t>20</a:t>
            </a:fld>
            <a:endParaRPr lang="en-US"/>
          </a:p>
        </p:txBody>
      </p:sp>
      <p:sp>
        <p:nvSpPr>
          <p:cNvPr id="2" name="TextBox 1">
            <a:extLst>
              <a:ext uri="{FF2B5EF4-FFF2-40B4-BE49-F238E27FC236}">
                <a16:creationId xmlns:a16="http://schemas.microsoft.com/office/drawing/2014/main" id="{25241FE3-8E00-E4EE-AD0A-A5B2CFCD7395}"/>
              </a:ext>
            </a:extLst>
          </p:cNvPr>
          <p:cNvSpPr txBox="1"/>
          <p:nvPr/>
        </p:nvSpPr>
        <p:spPr>
          <a:xfrm>
            <a:off x="853439" y="1534160"/>
            <a:ext cx="818379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cs typeface="Segoe UI Light"/>
              </a:rPr>
              <a:t>Research Question: </a:t>
            </a:r>
            <a:r>
              <a:rPr lang="en-US">
                <a:solidFill>
                  <a:schemeClr val="bg1"/>
                </a:solidFill>
                <a:cs typeface="Segoe UI Light"/>
              </a:rPr>
              <a:t>Are larger LEGO sets cheaper per piece?</a:t>
            </a:r>
            <a:endParaRPr lang="en-US">
              <a:solidFill>
                <a:schemeClr val="bg1"/>
              </a:solidFill>
            </a:endParaRPr>
          </a:p>
          <a:p>
            <a:r>
              <a:rPr lang="en-US" b="1">
                <a:solidFill>
                  <a:schemeClr val="bg1"/>
                </a:solidFill>
                <a:cs typeface="Segoe UI Light"/>
              </a:rPr>
              <a:t>Goal: </a:t>
            </a:r>
            <a:r>
              <a:rPr lang="en-US">
                <a:solidFill>
                  <a:schemeClr val="bg1"/>
                </a:solidFill>
                <a:cs typeface="Segoe UI Light"/>
              </a:rPr>
              <a:t>Determine whether pricing aligns with customer-perceived value.</a:t>
            </a:r>
          </a:p>
          <a:p>
            <a:endParaRPr lang="en-US">
              <a:cs typeface="Segoe UI Light"/>
            </a:endParaRPr>
          </a:p>
        </p:txBody>
      </p:sp>
      <p:sp>
        <p:nvSpPr>
          <p:cNvPr id="4" name="TextBox 3">
            <a:extLst>
              <a:ext uri="{FF2B5EF4-FFF2-40B4-BE49-F238E27FC236}">
                <a16:creationId xmlns:a16="http://schemas.microsoft.com/office/drawing/2014/main" id="{B07801F8-6AE4-A91F-EC33-C91C526E9B8C}"/>
              </a:ext>
            </a:extLst>
          </p:cNvPr>
          <p:cNvSpPr txBox="1"/>
          <p:nvPr/>
        </p:nvSpPr>
        <p:spPr>
          <a:xfrm>
            <a:off x="5450925" y="2506764"/>
            <a:ext cx="51104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solidFill>
                  <a:schemeClr val="bg1"/>
                </a:solidFill>
                <a:cs typeface="Segoe UI Light"/>
              </a:rPr>
              <a:t>Methodology:</a:t>
            </a:r>
          </a:p>
          <a:p>
            <a:pPr marL="285750" indent="-285750">
              <a:buFont typeface="Courier New"/>
              <a:buChar char="o"/>
            </a:pPr>
            <a:r>
              <a:rPr lang="en-US">
                <a:solidFill>
                  <a:schemeClr val="bg1"/>
                </a:solidFill>
                <a:cs typeface="Segoe UI Light"/>
              </a:rPr>
              <a:t>Loaded LEGO dataset</a:t>
            </a:r>
          </a:p>
          <a:p>
            <a:pPr marL="285750" indent="-285750">
              <a:buFont typeface="Courier New"/>
              <a:buChar char="o"/>
            </a:pPr>
            <a:r>
              <a:rPr lang="en-US">
                <a:solidFill>
                  <a:schemeClr val="bg1"/>
                </a:solidFill>
                <a:cs typeface="Segoe UI Light"/>
              </a:rPr>
              <a:t>Cleaned missing values for price and pieces</a:t>
            </a:r>
          </a:p>
          <a:p>
            <a:pPr marL="285750" indent="-285750">
              <a:buFont typeface="Courier New"/>
              <a:buChar char="o"/>
            </a:pPr>
            <a:r>
              <a:rPr lang="en-US">
                <a:solidFill>
                  <a:schemeClr val="bg1"/>
                </a:solidFill>
                <a:cs typeface="Segoe UI Light"/>
              </a:rPr>
              <a:t>Created new metric:</a:t>
            </a:r>
            <a:br>
              <a:rPr lang="en-US">
                <a:solidFill>
                  <a:schemeClr val="bg1"/>
                </a:solidFill>
                <a:cs typeface="Segoe UI Light"/>
              </a:rPr>
            </a:br>
            <a:r>
              <a:rPr lang="en-US">
                <a:solidFill>
                  <a:schemeClr val="bg1"/>
                </a:solidFill>
                <a:cs typeface="Segoe UI Light"/>
              </a:rPr>
              <a:t> </a:t>
            </a:r>
            <a:r>
              <a:rPr lang="en-US" b="1">
                <a:solidFill>
                  <a:schemeClr val="bg1"/>
                </a:solidFill>
                <a:cs typeface="Segoe UI Light"/>
              </a:rPr>
              <a:t>Price per Piece = Price ÷ Pieces</a:t>
            </a:r>
          </a:p>
          <a:p>
            <a:endParaRPr lang="en-US">
              <a:solidFill>
                <a:schemeClr val="bg1"/>
              </a:solidFill>
              <a:cs typeface="Segoe UI Light"/>
            </a:endParaRPr>
          </a:p>
          <a:p>
            <a:endParaRPr lang="en-US" b="1">
              <a:solidFill>
                <a:schemeClr val="bg1"/>
              </a:solidFill>
              <a:cs typeface="Segoe UI Light"/>
            </a:endParaRPr>
          </a:p>
          <a:p>
            <a:pPr algn="l"/>
            <a:endParaRPr lang="en-US">
              <a:cs typeface="Segoe UI Light"/>
            </a:endParaRPr>
          </a:p>
        </p:txBody>
      </p:sp>
      <p:sp>
        <p:nvSpPr>
          <p:cNvPr id="5" name="TextBox 4">
            <a:extLst>
              <a:ext uri="{FF2B5EF4-FFF2-40B4-BE49-F238E27FC236}">
                <a16:creationId xmlns:a16="http://schemas.microsoft.com/office/drawing/2014/main" id="{1DD7E2F9-43D2-A731-11A0-5A28C0BF3AE9}"/>
              </a:ext>
            </a:extLst>
          </p:cNvPr>
          <p:cNvSpPr txBox="1"/>
          <p:nvPr/>
        </p:nvSpPr>
        <p:spPr>
          <a:xfrm>
            <a:off x="1351279" y="4521200"/>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solidFill>
                  <a:schemeClr val="bg1"/>
                </a:solidFill>
                <a:cs typeface="Segoe UI Light"/>
              </a:rPr>
              <a:t>Conducted:</a:t>
            </a:r>
            <a:endParaRPr lang="en-US" u="sng">
              <a:solidFill>
                <a:schemeClr val="bg1"/>
              </a:solidFill>
              <a:cs typeface="Segoe UI Light"/>
            </a:endParaRPr>
          </a:p>
          <a:p>
            <a:pPr marL="285750" indent="-285750">
              <a:buFont typeface="Courier New"/>
              <a:buChar char="o"/>
            </a:pPr>
            <a:r>
              <a:rPr lang="en-US">
                <a:solidFill>
                  <a:schemeClr val="bg1"/>
                </a:solidFill>
                <a:cs typeface="Segoe UI Light"/>
              </a:rPr>
              <a:t>Descriptive statistics</a:t>
            </a:r>
          </a:p>
          <a:p>
            <a:pPr marL="285750" indent="-285750">
              <a:buFont typeface="Courier New"/>
              <a:buChar char="o"/>
            </a:pPr>
            <a:r>
              <a:rPr lang="en-US">
                <a:solidFill>
                  <a:schemeClr val="bg1"/>
                </a:solidFill>
                <a:cs typeface="Segoe UI Light"/>
              </a:rPr>
              <a:t>Scatterplot analysis</a:t>
            </a:r>
          </a:p>
          <a:p>
            <a:pPr marL="285750" indent="-285750">
              <a:buFont typeface="Courier New"/>
              <a:buChar char="o"/>
            </a:pPr>
            <a:r>
              <a:rPr lang="en-US">
                <a:solidFill>
                  <a:schemeClr val="bg1"/>
                </a:solidFill>
                <a:cs typeface="Segoe UI Light"/>
              </a:rPr>
              <a:t>Regression trend line</a:t>
            </a:r>
          </a:p>
          <a:p>
            <a:pPr marL="285750" indent="-285750">
              <a:buFont typeface="Courier New"/>
              <a:buChar char="o"/>
            </a:pPr>
            <a:r>
              <a:rPr lang="en-US">
                <a:solidFill>
                  <a:schemeClr val="bg1"/>
                </a:solidFill>
                <a:cs typeface="Segoe UI Light"/>
              </a:rPr>
              <a:t>Correlation calculation</a:t>
            </a:r>
            <a:endParaRPr lang="en-US">
              <a:cs typeface="Segoe UI Light"/>
            </a:endParaRPr>
          </a:p>
        </p:txBody>
      </p:sp>
      <p:sp>
        <p:nvSpPr>
          <p:cNvPr id="7" name="TextBox 6">
            <a:extLst>
              <a:ext uri="{FF2B5EF4-FFF2-40B4-BE49-F238E27FC236}">
                <a16:creationId xmlns:a16="http://schemas.microsoft.com/office/drawing/2014/main" id="{F39CF5BF-6047-FCEE-409F-31B1CF00A5DD}"/>
              </a:ext>
            </a:extLst>
          </p:cNvPr>
          <p:cNvSpPr txBox="1"/>
          <p:nvPr/>
        </p:nvSpPr>
        <p:spPr>
          <a:xfrm>
            <a:off x="5455920" y="4526280"/>
            <a:ext cx="22758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solidFill>
                  <a:schemeClr val="bg1"/>
                </a:solidFill>
              </a:rPr>
              <a:t>Tools Used:</a:t>
            </a:r>
            <a:endParaRPr lang="en-US" b="1" u="sng">
              <a:solidFill>
                <a:schemeClr val="bg1"/>
              </a:solidFill>
              <a:cs typeface="Segoe UI Light"/>
            </a:endParaRPr>
          </a:p>
          <a:p>
            <a:pPr marL="285750" indent="-285750">
              <a:buFont typeface="Courier New"/>
              <a:buChar char="o"/>
            </a:pPr>
            <a:r>
              <a:rPr lang="en-US">
                <a:solidFill>
                  <a:schemeClr val="bg1"/>
                </a:solidFill>
              </a:rPr>
              <a:t>Google Colab </a:t>
            </a:r>
            <a:endParaRPr lang="en-US">
              <a:solidFill>
                <a:schemeClr val="bg1"/>
              </a:solidFill>
              <a:cs typeface="Segoe UI Light"/>
            </a:endParaRPr>
          </a:p>
          <a:p>
            <a:pPr marL="285750" indent="-285750">
              <a:buFont typeface="Courier New"/>
              <a:buChar char="o"/>
            </a:pPr>
            <a:r>
              <a:rPr lang="en-US">
                <a:solidFill>
                  <a:schemeClr val="bg1"/>
                </a:solidFill>
              </a:rPr>
              <a:t>Python</a:t>
            </a:r>
            <a:endParaRPr lang="en-US">
              <a:solidFill>
                <a:schemeClr val="bg1"/>
              </a:solidFill>
              <a:cs typeface="Segoe UI Light"/>
            </a:endParaRPr>
          </a:p>
          <a:p>
            <a:pPr algn="ctr"/>
            <a:endParaRPr lang="en-US"/>
          </a:p>
        </p:txBody>
      </p:sp>
      <p:sp>
        <p:nvSpPr>
          <p:cNvPr id="8" name="TextBox 7">
            <a:extLst>
              <a:ext uri="{FF2B5EF4-FFF2-40B4-BE49-F238E27FC236}">
                <a16:creationId xmlns:a16="http://schemas.microsoft.com/office/drawing/2014/main" id="{D3944615-79EF-251E-1B20-6A73EAB13E8F}"/>
              </a:ext>
            </a:extLst>
          </p:cNvPr>
          <p:cNvSpPr txBox="1"/>
          <p:nvPr/>
        </p:nvSpPr>
        <p:spPr>
          <a:xfrm>
            <a:off x="904240" y="579120"/>
            <a:ext cx="66446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chemeClr val="bg1"/>
                </a:solidFill>
                <a:cs typeface="Segoe UI Light"/>
              </a:rPr>
              <a:t>Key Question &amp; Dataset</a:t>
            </a:r>
          </a:p>
        </p:txBody>
      </p:sp>
      <p:sp>
        <p:nvSpPr>
          <p:cNvPr id="10" name="TextBox 9">
            <a:extLst>
              <a:ext uri="{FF2B5EF4-FFF2-40B4-BE49-F238E27FC236}">
                <a16:creationId xmlns:a16="http://schemas.microsoft.com/office/drawing/2014/main" id="{AC067819-40DD-5E07-AE6C-47F0C7DA3F5D}"/>
              </a:ext>
            </a:extLst>
          </p:cNvPr>
          <p:cNvSpPr txBox="1"/>
          <p:nvPr/>
        </p:nvSpPr>
        <p:spPr>
          <a:xfrm>
            <a:off x="1351280" y="2509520"/>
            <a:ext cx="2743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solidFill>
                  <a:schemeClr val="bg1"/>
                </a:solidFill>
                <a:ea typeface="+mn-lt"/>
                <a:cs typeface="+mn-lt"/>
              </a:rPr>
              <a:t>Data fields used:</a:t>
            </a:r>
            <a:endParaRPr lang="en-US" u="sng">
              <a:solidFill>
                <a:schemeClr val="bg1"/>
              </a:solidFill>
              <a:cs typeface="Segoe UI Light"/>
            </a:endParaRPr>
          </a:p>
          <a:p>
            <a:pPr marL="285750" indent="-285750">
              <a:buFont typeface="Courier New"/>
              <a:buChar char="o"/>
            </a:pPr>
            <a:r>
              <a:rPr lang="en-US">
                <a:solidFill>
                  <a:schemeClr val="bg1"/>
                </a:solidFill>
                <a:cs typeface="Segoe UI Light"/>
              </a:rPr>
              <a:t>Pieces</a:t>
            </a:r>
          </a:p>
          <a:p>
            <a:pPr marL="285750" indent="-285750">
              <a:buFont typeface="Courier New"/>
              <a:buChar char="o"/>
            </a:pPr>
            <a:r>
              <a:rPr lang="en-US">
                <a:solidFill>
                  <a:schemeClr val="bg1"/>
                </a:solidFill>
                <a:cs typeface="Segoe UI Light"/>
              </a:rPr>
              <a:t>Price</a:t>
            </a:r>
          </a:p>
          <a:p>
            <a:pPr marL="285750" indent="-285750">
              <a:buFont typeface="Courier New"/>
              <a:buChar char="o"/>
            </a:pPr>
            <a:r>
              <a:rPr lang="en-US">
                <a:solidFill>
                  <a:schemeClr val="bg1"/>
                </a:solidFill>
                <a:cs typeface="Segoe UI Light"/>
              </a:rPr>
              <a:t>Theme</a:t>
            </a:r>
          </a:p>
          <a:p>
            <a:pPr marL="285750" indent="-285750" algn="l">
              <a:buFont typeface="Courier New"/>
              <a:buChar char="o"/>
            </a:pPr>
            <a:r>
              <a:rPr lang="en-US">
                <a:solidFill>
                  <a:schemeClr val="bg1"/>
                </a:solidFill>
                <a:cs typeface="Segoe UI Light"/>
              </a:rPr>
              <a:t>Size</a:t>
            </a:r>
          </a:p>
          <a:p>
            <a:pPr marL="285750" indent="-285750">
              <a:buFont typeface="Courier New"/>
              <a:buChar char="o"/>
            </a:pPr>
            <a:endParaRPr lang="en-US">
              <a:cs typeface="Segoe UI Light"/>
            </a:endParaRPr>
          </a:p>
          <a:p>
            <a:endParaRPr lang="en-US">
              <a:cs typeface="Segoe UI Light"/>
            </a:endParaRPr>
          </a:p>
        </p:txBody>
      </p:sp>
    </p:spTree>
    <p:extLst>
      <p:ext uri="{BB962C8B-B14F-4D97-AF65-F5344CB8AC3E}">
        <p14:creationId xmlns:p14="http://schemas.microsoft.com/office/powerpoint/2010/main" val="1210463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5DC482-F3AD-389C-70AB-D60DCAAA8EE3}"/>
              </a:ext>
            </a:extLst>
          </p:cNvPr>
          <p:cNvSpPr>
            <a:spLocks noGrp="1"/>
          </p:cNvSpPr>
          <p:nvPr>
            <p:ph type="sldNum" sz="quarter" idx="12"/>
          </p:nvPr>
        </p:nvSpPr>
        <p:spPr/>
        <p:txBody>
          <a:bodyPr/>
          <a:lstStyle/>
          <a:p>
            <a:fld id="{294A09A9-5501-47C1-A89A-A340965A2BE2}" type="slidenum">
              <a:rPr lang="en-US" smtClean="0"/>
              <a:t>21</a:t>
            </a:fld>
            <a:endParaRPr lang="en-US"/>
          </a:p>
        </p:txBody>
      </p:sp>
      <p:sp>
        <p:nvSpPr>
          <p:cNvPr id="4" name="TextBox 3">
            <a:extLst>
              <a:ext uri="{FF2B5EF4-FFF2-40B4-BE49-F238E27FC236}">
                <a16:creationId xmlns:a16="http://schemas.microsoft.com/office/drawing/2014/main" id="{4CFBC218-8276-4A4F-1833-77B1CE987853}"/>
              </a:ext>
            </a:extLst>
          </p:cNvPr>
          <p:cNvSpPr txBox="1"/>
          <p:nvPr/>
        </p:nvSpPr>
        <p:spPr>
          <a:xfrm>
            <a:off x="860626" y="924559"/>
            <a:ext cx="7928515" cy="61555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a:solidFill>
                  <a:schemeClr val="bg1"/>
                </a:solidFill>
                <a:cs typeface="Segoe UI Light"/>
              </a:rPr>
              <a:t>FINDING: PIECES VS. PRICE PER PIECE</a:t>
            </a:r>
          </a:p>
        </p:txBody>
      </p:sp>
      <p:sp>
        <p:nvSpPr>
          <p:cNvPr id="7" name="TextBox 6">
            <a:extLst>
              <a:ext uri="{FF2B5EF4-FFF2-40B4-BE49-F238E27FC236}">
                <a16:creationId xmlns:a16="http://schemas.microsoft.com/office/drawing/2014/main" id="{15CD816C-7471-3CA9-72D2-2E8212304AFD}"/>
              </a:ext>
            </a:extLst>
          </p:cNvPr>
          <p:cNvSpPr txBox="1"/>
          <p:nvPr/>
        </p:nvSpPr>
        <p:spPr>
          <a:xfrm>
            <a:off x="854927" y="1988634"/>
            <a:ext cx="3884344"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solidFill>
                  <a:schemeClr val="bg1"/>
                </a:solidFill>
              </a:rPr>
              <a:t>Small sets cluster with </a:t>
            </a:r>
            <a:r>
              <a:rPr lang="en-US" sz="2400" b="1">
                <a:solidFill>
                  <a:schemeClr val="bg1"/>
                </a:solidFill>
              </a:rPr>
              <a:t>high price-per-piece</a:t>
            </a:r>
            <a:r>
              <a:rPr lang="en-US" sz="2400">
                <a:solidFill>
                  <a:schemeClr val="bg1"/>
                </a:solidFill>
              </a:rPr>
              <a:t>.</a:t>
            </a:r>
            <a:endParaRPr lang="en-US" sz="2400">
              <a:solidFill>
                <a:schemeClr val="bg1"/>
              </a:solidFill>
              <a:cs typeface="Segoe UI Light"/>
            </a:endParaRPr>
          </a:p>
          <a:p>
            <a:pPr marL="342900" indent="-342900">
              <a:buFont typeface="Courier New"/>
              <a:buChar char="o"/>
            </a:pPr>
            <a:endParaRPr lang="en-US" sz="2400">
              <a:solidFill>
                <a:schemeClr val="bg1"/>
              </a:solidFill>
            </a:endParaRPr>
          </a:p>
          <a:p>
            <a:pPr marL="342900" indent="-342900">
              <a:buFont typeface="Courier New"/>
              <a:buChar char="o"/>
            </a:pPr>
            <a:r>
              <a:rPr lang="en-US" sz="2400">
                <a:solidFill>
                  <a:schemeClr val="bg1"/>
                </a:solidFill>
              </a:rPr>
              <a:t>As piece count increases, price-per-piece drops.</a:t>
            </a:r>
            <a:endParaRPr lang="en-US" sz="2400">
              <a:solidFill>
                <a:schemeClr val="bg1"/>
              </a:solidFill>
              <a:cs typeface="Segoe UI Light"/>
            </a:endParaRPr>
          </a:p>
          <a:p>
            <a:pPr marL="342900" indent="-342900">
              <a:buFont typeface="Courier New"/>
              <a:buChar char="o"/>
            </a:pPr>
            <a:endParaRPr lang="en-US" sz="2400">
              <a:solidFill>
                <a:schemeClr val="bg1"/>
              </a:solidFill>
            </a:endParaRPr>
          </a:p>
          <a:p>
            <a:pPr marL="342900" indent="-342900">
              <a:buFont typeface="Courier New"/>
              <a:buChar char="o"/>
            </a:pPr>
            <a:r>
              <a:rPr lang="en-US" sz="2400">
                <a:solidFill>
                  <a:schemeClr val="bg1"/>
                </a:solidFill>
              </a:rPr>
              <a:t>Indicates a strong value difference between small and large sets.</a:t>
            </a:r>
            <a:endParaRPr lang="en-US" sz="2400">
              <a:solidFill>
                <a:schemeClr val="bg1"/>
              </a:solidFill>
              <a:cs typeface="Segoe UI Light"/>
            </a:endParaRPr>
          </a:p>
          <a:p>
            <a:pPr algn="ctr"/>
            <a:endParaRPr lang="en-US" sz="2400"/>
          </a:p>
        </p:txBody>
      </p:sp>
      <p:pic>
        <p:nvPicPr>
          <p:cNvPr id="2" name="Picture 1" descr="A graph of blue dots&#10;&#10;AI-generated content may be incorrect.">
            <a:extLst>
              <a:ext uri="{FF2B5EF4-FFF2-40B4-BE49-F238E27FC236}">
                <a16:creationId xmlns:a16="http://schemas.microsoft.com/office/drawing/2014/main" id="{41123AC6-1C45-1086-B786-FC30715AF1BE}"/>
              </a:ext>
            </a:extLst>
          </p:cNvPr>
          <p:cNvPicPr>
            <a:picLocks noChangeAspect="1"/>
          </p:cNvPicPr>
          <p:nvPr/>
        </p:nvPicPr>
        <p:blipFill>
          <a:blip r:embed="rId2"/>
          <a:stretch>
            <a:fillRect/>
          </a:stretch>
        </p:blipFill>
        <p:spPr>
          <a:xfrm>
            <a:off x="5048482" y="1868759"/>
            <a:ext cx="6648450" cy="3733800"/>
          </a:xfrm>
          <a:prstGeom prst="rect">
            <a:avLst/>
          </a:prstGeom>
        </p:spPr>
      </p:pic>
    </p:spTree>
    <p:extLst>
      <p:ext uri="{BB962C8B-B14F-4D97-AF65-F5344CB8AC3E}">
        <p14:creationId xmlns:p14="http://schemas.microsoft.com/office/powerpoint/2010/main" val="2976832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DDFB6F1-0846-746D-302B-39BFFF5B9733}"/>
              </a:ext>
            </a:extLst>
          </p:cNvPr>
          <p:cNvSpPr>
            <a:spLocks noGrp="1"/>
          </p:cNvSpPr>
          <p:nvPr>
            <p:ph type="sldNum" sz="quarter" idx="12"/>
          </p:nvPr>
        </p:nvSpPr>
        <p:spPr/>
        <p:txBody>
          <a:bodyPr/>
          <a:lstStyle/>
          <a:p>
            <a:fld id="{294A09A9-5501-47C1-A89A-A340965A2BE2}" type="slidenum">
              <a:rPr lang="en-US" smtClean="0"/>
              <a:t>22</a:t>
            </a:fld>
            <a:endParaRPr lang="en-US"/>
          </a:p>
        </p:txBody>
      </p:sp>
      <p:sp>
        <p:nvSpPr>
          <p:cNvPr id="5" name="TextBox 4">
            <a:extLst>
              <a:ext uri="{FF2B5EF4-FFF2-40B4-BE49-F238E27FC236}">
                <a16:creationId xmlns:a16="http://schemas.microsoft.com/office/drawing/2014/main" id="{303868E1-EBD8-05E6-4C43-391391CE99B2}"/>
              </a:ext>
            </a:extLst>
          </p:cNvPr>
          <p:cNvSpPr txBox="1"/>
          <p:nvPr/>
        </p:nvSpPr>
        <p:spPr>
          <a:xfrm>
            <a:off x="860626" y="924559"/>
            <a:ext cx="10326027" cy="61555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a:solidFill>
                  <a:schemeClr val="bg1"/>
                </a:solidFill>
                <a:cs typeface="Segoe UI Light"/>
              </a:rPr>
              <a:t>FINDING: MORE PIECES -&gt; LOWER PRICE PER PIECE</a:t>
            </a:r>
          </a:p>
        </p:txBody>
      </p:sp>
      <p:pic>
        <p:nvPicPr>
          <p:cNvPr id="7" name="Picture 6" descr="A graph of blue dots&#10;&#10;AI-generated content may be incorrect.">
            <a:extLst>
              <a:ext uri="{FF2B5EF4-FFF2-40B4-BE49-F238E27FC236}">
                <a16:creationId xmlns:a16="http://schemas.microsoft.com/office/drawing/2014/main" id="{B8A9F02E-EBB7-92A9-3D04-E6FA67703913}"/>
              </a:ext>
            </a:extLst>
          </p:cNvPr>
          <p:cNvPicPr>
            <a:picLocks noChangeAspect="1"/>
          </p:cNvPicPr>
          <p:nvPr/>
        </p:nvPicPr>
        <p:blipFill>
          <a:blip r:embed="rId2"/>
          <a:stretch>
            <a:fillRect/>
          </a:stretch>
        </p:blipFill>
        <p:spPr>
          <a:xfrm>
            <a:off x="5257684" y="1925212"/>
            <a:ext cx="6638925" cy="3676650"/>
          </a:xfrm>
          <a:prstGeom prst="rect">
            <a:avLst/>
          </a:prstGeom>
        </p:spPr>
      </p:pic>
      <p:sp>
        <p:nvSpPr>
          <p:cNvPr id="8" name="TextBox 7">
            <a:extLst>
              <a:ext uri="{FF2B5EF4-FFF2-40B4-BE49-F238E27FC236}">
                <a16:creationId xmlns:a16="http://schemas.microsoft.com/office/drawing/2014/main" id="{7276AB16-FBA9-7EC6-09CD-DC674FE279D3}"/>
              </a:ext>
            </a:extLst>
          </p:cNvPr>
          <p:cNvSpPr txBox="1"/>
          <p:nvPr/>
        </p:nvSpPr>
        <p:spPr>
          <a:xfrm>
            <a:off x="1025540" y="1922470"/>
            <a:ext cx="353307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solidFill>
                  <a:schemeClr val="bg1"/>
                </a:solidFill>
                <a:ea typeface="+mn-lt"/>
                <a:cs typeface="+mn-lt"/>
              </a:rPr>
              <a:t>Clear </a:t>
            </a:r>
            <a:r>
              <a:rPr lang="en-US" sz="2400" b="1">
                <a:solidFill>
                  <a:schemeClr val="bg1"/>
                </a:solidFill>
                <a:ea typeface="+mn-lt"/>
                <a:cs typeface="+mn-lt"/>
              </a:rPr>
              <a:t>negative slope</a:t>
            </a:r>
            <a:r>
              <a:rPr lang="en-US" sz="2400">
                <a:solidFill>
                  <a:schemeClr val="bg1"/>
                </a:solidFill>
                <a:ea typeface="+mn-lt"/>
                <a:cs typeface="+mn-lt"/>
              </a:rPr>
              <a:t> confirms a downward trend.</a:t>
            </a:r>
          </a:p>
          <a:p>
            <a:pPr marL="342900" indent="-342900">
              <a:buFont typeface="Courier New"/>
              <a:buChar char="o"/>
            </a:pPr>
            <a:endParaRPr lang="en-US" sz="2400">
              <a:solidFill>
                <a:schemeClr val="bg1"/>
              </a:solidFill>
              <a:ea typeface="+mn-lt"/>
              <a:cs typeface="+mn-lt"/>
            </a:endParaRPr>
          </a:p>
          <a:p>
            <a:pPr marL="342900" indent="-342900">
              <a:buFont typeface="Courier New"/>
              <a:buChar char="o"/>
            </a:pPr>
            <a:r>
              <a:rPr lang="en-US" sz="2400">
                <a:solidFill>
                  <a:schemeClr val="bg1"/>
                </a:solidFill>
                <a:ea typeface="+mn-lt"/>
                <a:cs typeface="+mn-lt"/>
              </a:rPr>
              <a:t>Higher piece counts consistently correlate with better value.</a:t>
            </a:r>
            <a:endParaRPr lang="en-US" sz="2400">
              <a:solidFill>
                <a:schemeClr val="bg1"/>
              </a:solidFill>
              <a:cs typeface="Segoe UI Light"/>
            </a:endParaRPr>
          </a:p>
          <a:p>
            <a:pPr marL="285750" indent="-285750">
              <a:buFont typeface="Courier New"/>
              <a:buChar char="o"/>
            </a:pPr>
            <a:endParaRPr lang="en-US" sz="2400">
              <a:solidFill>
                <a:schemeClr val="bg1"/>
              </a:solidFill>
              <a:ea typeface="+mn-lt"/>
              <a:cs typeface="+mn-lt"/>
            </a:endParaRPr>
          </a:p>
          <a:p>
            <a:pPr marL="285750" indent="-285750">
              <a:buFont typeface="Courier New"/>
              <a:buChar char="o"/>
            </a:pPr>
            <a:r>
              <a:rPr lang="en-US" sz="2400">
                <a:solidFill>
                  <a:schemeClr val="bg1"/>
                </a:solidFill>
                <a:ea typeface="+mn-lt"/>
                <a:cs typeface="+mn-lt"/>
              </a:rPr>
              <a:t>Confirms evidence of </a:t>
            </a:r>
            <a:r>
              <a:rPr lang="en-US" sz="2400" b="1">
                <a:solidFill>
                  <a:schemeClr val="bg1"/>
                </a:solidFill>
                <a:ea typeface="+mn-lt"/>
                <a:cs typeface="+mn-lt"/>
              </a:rPr>
              <a:t>economies of scale</a:t>
            </a:r>
            <a:r>
              <a:rPr lang="en-US" sz="2400">
                <a:solidFill>
                  <a:schemeClr val="bg1"/>
                </a:solidFill>
                <a:ea typeface="+mn-lt"/>
                <a:cs typeface="+mn-lt"/>
              </a:rPr>
              <a:t>.</a:t>
            </a:r>
            <a:endParaRPr lang="en-US" sz="2400">
              <a:solidFill>
                <a:schemeClr val="bg1"/>
              </a:solidFill>
              <a:cs typeface="Segoe UI Light"/>
            </a:endParaRPr>
          </a:p>
          <a:p>
            <a:pPr algn="l"/>
            <a:endParaRPr lang="en-US" sz="2400">
              <a:cs typeface="Segoe UI Light"/>
            </a:endParaRPr>
          </a:p>
        </p:txBody>
      </p:sp>
    </p:spTree>
    <p:extLst>
      <p:ext uri="{BB962C8B-B14F-4D97-AF65-F5344CB8AC3E}">
        <p14:creationId xmlns:p14="http://schemas.microsoft.com/office/powerpoint/2010/main" val="4048387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FCEE4E7-85E1-3F5F-AA06-1B5C9BF74B48}"/>
              </a:ext>
            </a:extLst>
          </p:cNvPr>
          <p:cNvSpPr>
            <a:spLocks noGrp="1"/>
          </p:cNvSpPr>
          <p:nvPr>
            <p:ph type="sldNum" sz="quarter" idx="12"/>
          </p:nvPr>
        </p:nvSpPr>
        <p:spPr/>
        <p:txBody>
          <a:bodyPr/>
          <a:lstStyle/>
          <a:p>
            <a:fld id="{294A09A9-5501-47C1-A89A-A340965A2BE2}" type="slidenum">
              <a:rPr lang="en-US" smtClean="0"/>
              <a:t>23</a:t>
            </a:fld>
            <a:endParaRPr lang="en-US"/>
          </a:p>
        </p:txBody>
      </p:sp>
      <p:pic>
        <p:nvPicPr>
          <p:cNvPr id="4" name="Picture 3" descr="A graph showing the number of pieces&#10;&#10;AI-generated content may be incorrect.">
            <a:extLst>
              <a:ext uri="{FF2B5EF4-FFF2-40B4-BE49-F238E27FC236}">
                <a16:creationId xmlns:a16="http://schemas.microsoft.com/office/drawing/2014/main" id="{50C9840A-8E81-3EA2-55CD-B28F705B5BD4}"/>
              </a:ext>
            </a:extLst>
          </p:cNvPr>
          <p:cNvPicPr>
            <a:picLocks noChangeAspect="1"/>
          </p:cNvPicPr>
          <p:nvPr/>
        </p:nvPicPr>
        <p:blipFill>
          <a:blip r:embed="rId2"/>
          <a:stretch>
            <a:fillRect/>
          </a:stretch>
        </p:blipFill>
        <p:spPr>
          <a:xfrm>
            <a:off x="962606" y="566271"/>
            <a:ext cx="6066498" cy="3485919"/>
          </a:xfrm>
          <a:prstGeom prst="rect">
            <a:avLst/>
          </a:prstGeom>
        </p:spPr>
      </p:pic>
      <p:sp>
        <p:nvSpPr>
          <p:cNvPr id="5" name="TextBox 4">
            <a:extLst>
              <a:ext uri="{FF2B5EF4-FFF2-40B4-BE49-F238E27FC236}">
                <a16:creationId xmlns:a16="http://schemas.microsoft.com/office/drawing/2014/main" id="{64B40A96-5DDF-5D96-7D5E-ED0574AB9B38}"/>
              </a:ext>
            </a:extLst>
          </p:cNvPr>
          <p:cNvSpPr txBox="1"/>
          <p:nvPr/>
        </p:nvSpPr>
        <p:spPr>
          <a:xfrm>
            <a:off x="855671" y="4377597"/>
            <a:ext cx="594917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ea typeface="+mn-lt"/>
                <a:cs typeface="+mn-lt"/>
              </a:rPr>
              <a:t>This line plot shows the average price per piece for sets falling into different piece count ranges. The general downward trend indicates that, on average, sets with more pieces tend to have a lower price per piece, confirming the observation from the scatter plot and summary statistics</a:t>
            </a:r>
            <a:endParaRPr lang="en-US" sz="1600">
              <a:solidFill>
                <a:schemeClr val="bg1"/>
              </a:solidFill>
            </a:endParaRPr>
          </a:p>
        </p:txBody>
      </p:sp>
      <p:sp>
        <p:nvSpPr>
          <p:cNvPr id="2" name="TextBox 1">
            <a:extLst>
              <a:ext uri="{FF2B5EF4-FFF2-40B4-BE49-F238E27FC236}">
                <a16:creationId xmlns:a16="http://schemas.microsoft.com/office/drawing/2014/main" id="{2C7FC40D-C994-6E88-4564-EB5E82AB4DDF}"/>
              </a:ext>
            </a:extLst>
          </p:cNvPr>
          <p:cNvSpPr txBox="1"/>
          <p:nvPr/>
        </p:nvSpPr>
        <p:spPr>
          <a:xfrm>
            <a:off x="7273817" y="567472"/>
            <a:ext cx="4267199" cy="4739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solidFill>
                  <a:schemeClr val="bg1"/>
                </a:solidFill>
                <a:cs typeface="Segoe UI Light"/>
              </a:rPr>
              <a:t>Recommendation for LEGO:</a:t>
            </a:r>
          </a:p>
          <a:p>
            <a:endParaRPr lang="en-US" b="1" i="1">
              <a:solidFill>
                <a:schemeClr val="bg1"/>
              </a:solidFill>
              <a:cs typeface="Segoe UI Light"/>
            </a:endParaRPr>
          </a:p>
          <a:p>
            <a:r>
              <a:rPr lang="en-US">
                <a:solidFill>
                  <a:schemeClr val="bg1"/>
                </a:solidFill>
                <a:cs typeface="Segoe UI Light"/>
              </a:rPr>
              <a:t>Leverage “Value-per-Piece” Pricing to Increase Profitability</a:t>
            </a:r>
            <a:endParaRPr lang="en-US">
              <a:solidFill>
                <a:schemeClr val="bg1"/>
              </a:solidFill>
            </a:endParaRPr>
          </a:p>
          <a:p>
            <a:endParaRPr lang="en-US">
              <a:solidFill>
                <a:schemeClr val="bg1"/>
              </a:solidFill>
              <a:cs typeface="Segoe UI Light"/>
            </a:endParaRPr>
          </a:p>
          <a:p>
            <a:pPr marL="285750" indent="-285750">
              <a:buFont typeface="Courier New"/>
              <a:buChar char="o"/>
            </a:pPr>
            <a:r>
              <a:rPr lang="en-US" sz="1600">
                <a:solidFill>
                  <a:schemeClr val="bg1"/>
                </a:solidFill>
                <a:cs typeface="Segoe UI Light"/>
              </a:rPr>
              <a:t>Promote larger sets as better value to drive higher-margin purchases</a:t>
            </a:r>
          </a:p>
          <a:p>
            <a:pPr marL="285750" indent="-285750">
              <a:buFont typeface="Courier New"/>
              <a:buChar char="o"/>
            </a:pPr>
            <a:endParaRPr lang="en-US" sz="1600">
              <a:solidFill>
                <a:schemeClr val="bg1"/>
              </a:solidFill>
              <a:cs typeface="Segoe UI Light"/>
            </a:endParaRPr>
          </a:p>
          <a:p>
            <a:pPr marL="285750" indent="-285750">
              <a:buFont typeface="Courier New"/>
              <a:buChar char="o"/>
            </a:pPr>
            <a:r>
              <a:rPr lang="en-US" sz="1600">
                <a:solidFill>
                  <a:schemeClr val="bg1"/>
                </a:solidFill>
                <a:cs typeface="Segoe UI Light"/>
              </a:rPr>
              <a:t>Reevaluate pricing of small sets where price-per-piece is disproportionately high</a:t>
            </a:r>
          </a:p>
          <a:p>
            <a:pPr marL="285750" indent="-285750">
              <a:buFont typeface="Courier New"/>
              <a:buChar char="o"/>
            </a:pPr>
            <a:endParaRPr lang="en-US" sz="1600">
              <a:solidFill>
                <a:schemeClr val="bg1"/>
              </a:solidFill>
              <a:cs typeface="Segoe UI Light"/>
            </a:endParaRPr>
          </a:p>
          <a:p>
            <a:pPr marL="285750" indent="-285750">
              <a:buFont typeface="Courier New"/>
              <a:buChar char="o"/>
            </a:pPr>
            <a:r>
              <a:rPr lang="en-US" sz="1600">
                <a:solidFill>
                  <a:schemeClr val="bg1"/>
                </a:solidFill>
                <a:cs typeface="Segoe UI Light"/>
              </a:rPr>
              <a:t>Offer bundle packs to improve value perception on small/medium sets</a:t>
            </a:r>
            <a:endParaRPr lang="en-US">
              <a:solidFill>
                <a:schemeClr val="bg1"/>
              </a:solidFill>
              <a:cs typeface="Segoe UI Light"/>
            </a:endParaRPr>
          </a:p>
          <a:p>
            <a:endParaRPr lang="en-US" sz="1600">
              <a:solidFill>
                <a:schemeClr val="bg1"/>
              </a:solidFill>
              <a:cs typeface="Segoe UI Light"/>
            </a:endParaRPr>
          </a:p>
          <a:p>
            <a:pPr marL="285750" indent="-285750">
              <a:buFont typeface="Courier New"/>
              <a:buChar char="o"/>
            </a:pPr>
            <a:r>
              <a:rPr lang="en-US" sz="1600">
                <a:solidFill>
                  <a:schemeClr val="bg1"/>
                </a:solidFill>
                <a:cs typeface="Segoe UI Light"/>
              </a:rPr>
              <a:t>Highlight “cost per piece” value messaging on Amazon listings</a:t>
            </a:r>
          </a:p>
          <a:p>
            <a:pPr marL="285750" indent="-285750">
              <a:buFont typeface="Courier New"/>
              <a:buChar char="o"/>
            </a:pPr>
            <a:endParaRPr lang="en-US">
              <a:solidFill>
                <a:schemeClr val="bg1"/>
              </a:solidFill>
              <a:cs typeface="Segoe UI Light"/>
            </a:endParaRPr>
          </a:p>
          <a:p>
            <a:pPr marL="285750" indent="-285750">
              <a:buFont typeface="Courier New"/>
              <a:buChar char="o"/>
            </a:pPr>
            <a:endParaRPr lang="en-US">
              <a:solidFill>
                <a:schemeClr val="bg1"/>
              </a:solidFill>
              <a:cs typeface="Segoe UI Light"/>
            </a:endParaRPr>
          </a:p>
        </p:txBody>
      </p:sp>
    </p:spTree>
    <p:extLst>
      <p:ext uri="{BB962C8B-B14F-4D97-AF65-F5344CB8AC3E}">
        <p14:creationId xmlns:p14="http://schemas.microsoft.com/office/powerpoint/2010/main" val="33157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9855-42AE-342D-3F9D-857D626356F9}"/>
              </a:ext>
            </a:extLst>
          </p:cNvPr>
          <p:cNvSpPr>
            <a:spLocks noGrp="1"/>
          </p:cNvSpPr>
          <p:nvPr>
            <p:ph type="title"/>
          </p:nvPr>
        </p:nvSpPr>
        <p:spPr>
          <a:xfrm>
            <a:off x="1534293" y="822960"/>
            <a:ext cx="9408910" cy="1069848"/>
          </a:xfrm>
        </p:spPr>
        <p:txBody>
          <a:bodyPr anchor="b">
            <a:normAutofit fontScale="90000"/>
          </a:bodyPr>
          <a:lstStyle/>
          <a:p>
            <a:r>
              <a:rPr lang="en-US" sz="4800"/>
              <a:t>LEGO Set Size Analysis: </a:t>
            </a:r>
            <a:br>
              <a:rPr lang="en-US" sz="4800"/>
            </a:br>
            <a:r>
              <a:rPr lang="en-US" sz="4800"/>
              <a:t>Small vs. Medium vs. Large</a:t>
            </a:r>
          </a:p>
        </p:txBody>
      </p:sp>
      <p:sp>
        <p:nvSpPr>
          <p:cNvPr id="3" name="Subtitle 2">
            <a:extLst>
              <a:ext uri="{FF2B5EF4-FFF2-40B4-BE49-F238E27FC236}">
                <a16:creationId xmlns:a16="http://schemas.microsoft.com/office/drawing/2014/main" id="{1EB544F4-974A-4D8B-CAFF-4DCB43C7CE8E}"/>
              </a:ext>
            </a:extLst>
          </p:cNvPr>
          <p:cNvSpPr>
            <a:spLocks noGrp="1"/>
          </p:cNvSpPr>
          <p:nvPr>
            <p:ph type="body" idx="1"/>
          </p:nvPr>
        </p:nvSpPr>
        <p:spPr>
          <a:xfrm>
            <a:off x="1536192" y="2185416"/>
            <a:ext cx="9391859" cy="537949"/>
          </a:xfrm>
        </p:spPr>
        <p:txBody>
          <a:bodyPr vert="horz" lIns="91440" tIns="45720" rIns="91440" bIns="45720" rtlCol="0" anchor="t">
            <a:normAutofit/>
          </a:bodyPr>
          <a:lstStyle/>
          <a:p>
            <a:r>
              <a:rPr lang="en-US" sz="2000">
                <a:cs typeface="Segoe UI"/>
              </a:rPr>
              <a:t>How Size Impacts Piece Count, Price, and Value</a:t>
            </a:r>
          </a:p>
        </p:txBody>
      </p:sp>
      <p:pic>
        <p:nvPicPr>
          <p:cNvPr id="4" name="Picture 3" descr="LEGO® City F1® Driver with McLaren Race Car Mini Vehicle Toy Playset ...">
            <a:extLst>
              <a:ext uri="{FF2B5EF4-FFF2-40B4-BE49-F238E27FC236}">
                <a16:creationId xmlns:a16="http://schemas.microsoft.com/office/drawing/2014/main" id="{659624F1-FE7A-55AD-1805-4F67616EAF30}"/>
              </a:ext>
            </a:extLst>
          </p:cNvPr>
          <p:cNvPicPr>
            <a:picLocks noChangeAspect="1"/>
          </p:cNvPicPr>
          <p:nvPr/>
        </p:nvPicPr>
        <p:blipFill>
          <a:blip r:embed="rId2"/>
          <a:srcRect t="6347" b="6347"/>
          <a:stretch>
            <a:fillRect/>
          </a:stretch>
        </p:blipFill>
        <p:spPr>
          <a:xfrm>
            <a:off x="1536192" y="2743200"/>
            <a:ext cx="2953512" cy="2578608"/>
          </a:xfrm>
          <a:prstGeom prst="rect">
            <a:avLst/>
          </a:prstGeom>
          <a:noFill/>
        </p:spPr>
      </p:pic>
      <p:pic>
        <p:nvPicPr>
          <p:cNvPr id="5" name="Picture 4" descr="KIDZY TOY: LEGO Classic Medium Creative Brick Box 10696: Unleash Your ...">
            <a:extLst>
              <a:ext uri="{FF2B5EF4-FFF2-40B4-BE49-F238E27FC236}">
                <a16:creationId xmlns:a16="http://schemas.microsoft.com/office/drawing/2014/main" id="{ECF39FB9-5FFA-7F2E-9CF6-DD0471A4BE7C}"/>
              </a:ext>
            </a:extLst>
          </p:cNvPr>
          <p:cNvPicPr>
            <a:picLocks noChangeAspect="1"/>
          </p:cNvPicPr>
          <p:nvPr/>
        </p:nvPicPr>
        <p:blipFill>
          <a:blip r:embed="rId3"/>
          <a:srcRect t="6347" b="6347"/>
          <a:stretch>
            <a:fillRect/>
          </a:stretch>
        </p:blipFill>
        <p:spPr>
          <a:xfrm>
            <a:off x="4754880" y="2743200"/>
            <a:ext cx="2953512" cy="2578608"/>
          </a:xfrm>
          <a:prstGeom prst="rect">
            <a:avLst/>
          </a:prstGeom>
          <a:noFill/>
        </p:spPr>
      </p:pic>
      <p:sp>
        <p:nvSpPr>
          <p:cNvPr id="13" name="Slide Number Placeholder 6">
            <a:extLst>
              <a:ext uri="{FF2B5EF4-FFF2-40B4-BE49-F238E27FC236}">
                <a16:creationId xmlns:a16="http://schemas.microsoft.com/office/drawing/2014/main" id="{987956F0-9A07-13C6-2452-DB1421D2A7BC}"/>
              </a:ext>
            </a:extLst>
          </p:cNvPr>
          <p:cNvSpPr>
            <a:spLocks noGrp="1"/>
          </p:cNvSpPr>
          <p:nvPr>
            <p:ph type="sldNum" sz="quarter" idx="12"/>
          </p:nvPr>
        </p:nvSpPr>
        <p:spPr>
          <a:xfrm>
            <a:off x="329184" y="411480"/>
            <a:ext cx="521208" cy="310896"/>
          </a:xfrm>
        </p:spPr>
        <p:txBody>
          <a:bodyPr/>
          <a:lstStyle/>
          <a:p>
            <a:pPr>
              <a:spcAft>
                <a:spcPts val="600"/>
              </a:spcAft>
            </a:pPr>
            <a:fld id="{294A09A9-5501-47C1-A89A-A340965A2BE2}" type="slidenum">
              <a:rPr lang="en-US" smtClean="0"/>
              <a:pPr>
                <a:spcAft>
                  <a:spcPts val="600"/>
                </a:spcAft>
              </a:pPr>
              <a:t>24</a:t>
            </a:fld>
            <a:endParaRPr lang="en-US"/>
          </a:p>
        </p:txBody>
      </p:sp>
      <p:pic>
        <p:nvPicPr>
          <p:cNvPr id="6" name="Picture 5" descr="LEGO The Disney Castle (71040) New Sealed Box | eBay">
            <a:extLst>
              <a:ext uri="{FF2B5EF4-FFF2-40B4-BE49-F238E27FC236}">
                <a16:creationId xmlns:a16="http://schemas.microsoft.com/office/drawing/2014/main" id="{DF4F4D9A-9B71-3A5F-1DD6-B06DE09A9146}"/>
              </a:ext>
            </a:extLst>
          </p:cNvPr>
          <p:cNvPicPr>
            <a:picLocks noChangeAspect="1"/>
          </p:cNvPicPr>
          <p:nvPr/>
        </p:nvPicPr>
        <p:blipFill>
          <a:blip r:embed="rId4"/>
          <a:srcRect t="11640" b="11640"/>
          <a:stretch>
            <a:fillRect/>
          </a:stretch>
        </p:blipFill>
        <p:spPr>
          <a:xfrm>
            <a:off x="7973568" y="2743200"/>
            <a:ext cx="2953512" cy="2578608"/>
          </a:xfrm>
          <a:prstGeom prst="rect">
            <a:avLst/>
          </a:prstGeom>
          <a:noFill/>
        </p:spPr>
      </p:pic>
    </p:spTree>
    <p:extLst>
      <p:ext uri="{BB962C8B-B14F-4D97-AF65-F5344CB8AC3E}">
        <p14:creationId xmlns:p14="http://schemas.microsoft.com/office/powerpoint/2010/main" val="622415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2F231-A004-69B8-1A8A-72B6D044A288}"/>
              </a:ext>
            </a:extLst>
          </p:cNvPr>
          <p:cNvSpPr>
            <a:spLocks noGrp="1"/>
          </p:cNvSpPr>
          <p:nvPr>
            <p:ph type="title"/>
          </p:nvPr>
        </p:nvSpPr>
        <p:spPr/>
        <p:txBody>
          <a:bodyPr/>
          <a:lstStyle/>
          <a:p>
            <a:pPr algn="ctr"/>
            <a:r>
              <a:rPr lang="en-US"/>
              <a:t>Question &amp; Methodology</a:t>
            </a:r>
            <a:endParaRPr lang="en-US" b="0">
              <a:solidFill>
                <a:srgbClr val="000000"/>
              </a:solidFill>
            </a:endParaRPr>
          </a:p>
        </p:txBody>
      </p:sp>
      <p:sp>
        <p:nvSpPr>
          <p:cNvPr id="3" name="Text Placeholder 2">
            <a:extLst>
              <a:ext uri="{FF2B5EF4-FFF2-40B4-BE49-F238E27FC236}">
                <a16:creationId xmlns:a16="http://schemas.microsoft.com/office/drawing/2014/main" id="{48FCD09B-676D-C0E8-80C3-B45949A2DDD6}"/>
              </a:ext>
            </a:extLst>
          </p:cNvPr>
          <p:cNvSpPr>
            <a:spLocks noGrp="1"/>
          </p:cNvSpPr>
          <p:nvPr>
            <p:ph type="body" idx="1"/>
          </p:nvPr>
        </p:nvSpPr>
        <p:spPr>
          <a:xfrm>
            <a:off x="1547915" y="2185416"/>
            <a:ext cx="2953512" cy="1384729"/>
          </a:xfrm>
        </p:spPr>
        <p:txBody>
          <a:bodyPr/>
          <a:lstStyle/>
          <a:p>
            <a:r>
              <a:rPr lang="en-US">
                <a:ea typeface="+mj-lt"/>
                <a:cs typeface="+mj-lt"/>
              </a:rPr>
              <a:t>Core Question: How do Small/ Medium/ Large LEGO sets differ in:</a:t>
            </a:r>
            <a:endParaRPr lang="en-US"/>
          </a:p>
          <a:p>
            <a:endParaRPr lang="en-US">
              <a:ea typeface="+mj-lt"/>
              <a:cs typeface="+mj-lt"/>
            </a:endParaRPr>
          </a:p>
        </p:txBody>
      </p:sp>
      <p:sp>
        <p:nvSpPr>
          <p:cNvPr id="4" name="Content Placeholder 3">
            <a:extLst>
              <a:ext uri="{FF2B5EF4-FFF2-40B4-BE49-F238E27FC236}">
                <a16:creationId xmlns:a16="http://schemas.microsoft.com/office/drawing/2014/main" id="{E1D3F062-8E79-21F8-B824-377A9FDF0F6D}"/>
              </a:ext>
            </a:extLst>
          </p:cNvPr>
          <p:cNvSpPr>
            <a:spLocks noGrp="1"/>
          </p:cNvSpPr>
          <p:nvPr>
            <p:ph sz="half" idx="2"/>
          </p:nvPr>
        </p:nvSpPr>
        <p:spPr>
          <a:xfrm>
            <a:off x="1536192" y="3751385"/>
            <a:ext cx="2953512" cy="2578608"/>
          </a:xfrm>
        </p:spPr>
        <p:txBody>
          <a:bodyPr vert="horz" lIns="91440" tIns="45720" rIns="91440" bIns="45720" rtlCol="0" anchor="t">
            <a:noAutofit/>
          </a:bodyPr>
          <a:lstStyle/>
          <a:p>
            <a:pPr marL="347345" indent="-347345"/>
            <a:r>
              <a:rPr lang="en-US" b="1">
                <a:ea typeface="+mn-lt"/>
                <a:cs typeface="+mn-lt"/>
              </a:rPr>
              <a:t>Total piece count</a:t>
            </a:r>
          </a:p>
          <a:p>
            <a:pPr marL="347345" indent="-347345"/>
            <a:r>
              <a:rPr lang="en-US" b="1">
                <a:ea typeface="+mn-lt"/>
                <a:cs typeface="+mn-lt"/>
              </a:rPr>
              <a:t>Total price</a:t>
            </a:r>
          </a:p>
          <a:p>
            <a:pPr marL="347345" indent="-347345"/>
            <a:r>
              <a:rPr lang="en-US" b="1">
                <a:ea typeface="+mn-lt"/>
                <a:cs typeface="+mn-lt"/>
              </a:rPr>
              <a:t>Price per piece (value)</a:t>
            </a:r>
          </a:p>
        </p:txBody>
      </p:sp>
      <p:sp>
        <p:nvSpPr>
          <p:cNvPr id="5" name="Text Placeholder 4">
            <a:extLst>
              <a:ext uri="{FF2B5EF4-FFF2-40B4-BE49-F238E27FC236}">
                <a16:creationId xmlns:a16="http://schemas.microsoft.com/office/drawing/2014/main" id="{ED73A0C4-0434-ACBF-752A-C47854796ABD}"/>
              </a:ext>
            </a:extLst>
          </p:cNvPr>
          <p:cNvSpPr>
            <a:spLocks noGrp="1"/>
          </p:cNvSpPr>
          <p:nvPr>
            <p:ph type="body" sz="quarter" idx="3"/>
          </p:nvPr>
        </p:nvSpPr>
        <p:spPr>
          <a:xfrm>
            <a:off x="4754880" y="2185416"/>
            <a:ext cx="2953512" cy="1384729"/>
          </a:xfrm>
        </p:spPr>
        <p:txBody>
          <a:bodyPr/>
          <a:lstStyle/>
          <a:p>
            <a:r>
              <a:rPr lang="en-US">
                <a:ea typeface="+mj-lt"/>
                <a:cs typeface="+mj-lt"/>
              </a:rPr>
              <a:t>Size Definition (Piece Count)</a:t>
            </a:r>
            <a:r>
              <a:rPr lang="en-US" b="0">
                <a:ea typeface="+mj-lt"/>
                <a:cs typeface="+mj-lt"/>
              </a:rPr>
              <a:t>:</a:t>
            </a:r>
            <a:endParaRPr lang="en-US"/>
          </a:p>
          <a:p>
            <a:endParaRPr lang="en-US"/>
          </a:p>
        </p:txBody>
      </p:sp>
      <p:sp>
        <p:nvSpPr>
          <p:cNvPr id="6" name="Content Placeholder 5">
            <a:extLst>
              <a:ext uri="{FF2B5EF4-FFF2-40B4-BE49-F238E27FC236}">
                <a16:creationId xmlns:a16="http://schemas.microsoft.com/office/drawing/2014/main" id="{9B77BDDD-AA87-8941-0045-4124016D7B3C}"/>
              </a:ext>
            </a:extLst>
          </p:cNvPr>
          <p:cNvSpPr>
            <a:spLocks noGrp="1"/>
          </p:cNvSpPr>
          <p:nvPr>
            <p:ph sz="quarter" idx="4"/>
          </p:nvPr>
        </p:nvSpPr>
        <p:spPr>
          <a:xfrm>
            <a:off x="4754880" y="3751385"/>
            <a:ext cx="2953512" cy="2578608"/>
          </a:xfrm>
        </p:spPr>
        <p:txBody>
          <a:bodyPr vert="horz" lIns="91440" tIns="45720" rIns="91440" bIns="45720" rtlCol="0" anchor="t">
            <a:noAutofit/>
          </a:bodyPr>
          <a:lstStyle/>
          <a:p>
            <a:r>
              <a:rPr lang="en-US" b="1">
                <a:ea typeface="+mn-lt"/>
                <a:cs typeface="+mn-lt"/>
              </a:rPr>
              <a:t>Small</a:t>
            </a:r>
            <a:r>
              <a:rPr lang="en-US">
                <a:ea typeface="+mn-lt"/>
                <a:cs typeface="+mn-lt"/>
              </a:rPr>
              <a:t>: ≤ 68 pieces (33rd percentile)</a:t>
            </a:r>
            <a:endParaRPr lang="en-US"/>
          </a:p>
          <a:p>
            <a:r>
              <a:rPr lang="en-US" b="1">
                <a:ea typeface="+mn-lt"/>
                <a:cs typeface="+mn-lt"/>
              </a:rPr>
              <a:t>Medium</a:t>
            </a:r>
            <a:r>
              <a:rPr lang="en-US">
                <a:ea typeface="+mn-lt"/>
                <a:cs typeface="+mn-lt"/>
              </a:rPr>
              <a:t>: 69–236 pieces (33rd–66th percentile)</a:t>
            </a:r>
            <a:endParaRPr lang="en-US"/>
          </a:p>
          <a:p>
            <a:r>
              <a:rPr lang="en-US" b="1">
                <a:ea typeface="+mn-lt"/>
                <a:cs typeface="+mn-lt"/>
              </a:rPr>
              <a:t>Large</a:t>
            </a:r>
            <a:r>
              <a:rPr lang="en-US">
                <a:ea typeface="+mn-lt"/>
                <a:cs typeface="+mn-lt"/>
              </a:rPr>
              <a:t>: &gt; 236 pieces (66th percentile)</a:t>
            </a:r>
            <a:endParaRPr lang="en-US"/>
          </a:p>
          <a:p>
            <a:endParaRPr lang="en-US"/>
          </a:p>
        </p:txBody>
      </p:sp>
      <p:sp>
        <p:nvSpPr>
          <p:cNvPr id="7" name="Slide Number Placeholder 6">
            <a:extLst>
              <a:ext uri="{FF2B5EF4-FFF2-40B4-BE49-F238E27FC236}">
                <a16:creationId xmlns:a16="http://schemas.microsoft.com/office/drawing/2014/main" id="{EB3A5543-0A2D-2635-6988-845A4D55BD22}"/>
              </a:ext>
            </a:extLst>
          </p:cNvPr>
          <p:cNvSpPr>
            <a:spLocks noGrp="1"/>
          </p:cNvSpPr>
          <p:nvPr>
            <p:ph type="sldNum" sz="quarter" idx="12"/>
          </p:nvPr>
        </p:nvSpPr>
        <p:spPr/>
        <p:txBody>
          <a:bodyPr/>
          <a:lstStyle/>
          <a:p>
            <a:fld id="{294A09A9-5501-47C1-A89A-A340965A2BE2}" type="slidenum">
              <a:rPr lang="en-US" smtClean="0"/>
              <a:t>25</a:t>
            </a:fld>
            <a:endParaRPr lang="en-US"/>
          </a:p>
        </p:txBody>
      </p:sp>
      <p:sp>
        <p:nvSpPr>
          <p:cNvPr id="9" name="Text Placeholder 8">
            <a:extLst>
              <a:ext uri="{FF2B5EF4-FFF2-40B4-BE49-F238E27FC236}">
                <a16:creationId xmlns:a16="http://schemas.microsoft.com/office/drawing/2014/main" id="{3FE49BF0-9853-331E-181D-FF6D300583BA}"/>
              </a:ext>
            </a:extLst>
          </p:cNvPr>
          <p:cNvSpPr>
            <a:spLocks noGrp="1"/>
          </p:cNvSpPr>
          <p:nvPr>
            <p:ph type="body" sz="quarter" idx="13"/>
          </p:nvPr>
        </p:nvSpPr>
        <p:spPr/>
        <p:txBody>
          <a:bodyPr/>
          <a:lstStyle/>
          <a:p>
            <a:r>
              <a:rPr lang="en-US">
                <a:ea typeface="+mj-lt"/>
                <a:cs typeface="+mj-lt"/>
              </a:rPr>
              <a:t>Methodology</a:t>
            </a:r>
            <a:r>
              <a:rPr lang="en-US" b="0">
                <a:ea typeface="+mj-lt"/>
                <a:cs typeface="+mj-lt"/>
              </a:rPr>
              <a:t>:</a:t>
            </a:r>
            <a:endParaRPr lang="en-US"/>
          </a:p>
          <a:p>
            <a:endParaRPr lang="en-US"/>
          </a:p>
        </p:txBody>
      </p:sp>
      <p:sp>
        <p:nvSpPr>
          <p:cNvPr id="10" name="Content Placeholder 9">
            <a:extLst>
              <a:ext uri="{FF2B5EF4-FFF2-40B4-BE49-F238E27FC236}">
                <a16:creationId xmlns:a16="http://schemas.microsoft.com/office/drawing/2014/main" id="{77FBADD6-E3F9-5E3B-43CF-5370633B2CEB}"/>
              </a:ext>
            </a:extLst>
          </p:cNvPr>
          <p:cNvSpPr>
            <a:spLocks noGrp="1"/>
          </p:cNvSpPr>
          <p:nvPr>
            <p:ph sz="quarter" idx="14"/>
          </p:nvPr>
        </p:nvSpPr>
        <p:spPr>
          <a:xfrm>
            <a:off x="7973568" y="3751385"/>
            <a:ext cx="2953512" cy="2578608"/>
          </a:xfrm>
        </p:spPr>
        <p:txBody>
          <a:bodyPr vert="horz" lIns="91440" tIns="45720" rIns="91440" bIns="45720" rtlCol="0" anchor="t">
            <a:noAutofit/>
          </a:bodyPr>
          <a:lstStyle/>
          <a:p>
            <a:r>
              <a:rPr lang="en-US">
                <a:ea typeface="+mn-lt"/>
                <a:cs typeface="+mn-lt"/>
              </a:rPr>
              <a:t>Cleaned dataset (removed missing/invalid entries)</a:t>
            </a:r>
            <a:endParaRPr lang="en-US"/>
          </a:p>
          <a:p>
            <a:r>
              <a:rPr lang="en-US">
                <a:ea typeface="+mn-lt"/>
                <a:cs typeface="+mn-lt"/>
              </a:rPr>
              <a:t>Categorized sets by piece count quartiles</a:t>
            </a:r>
          </a:p>
          <a:p>
            <a:r>
              <a:rPr lang="en-US">
                <a:ea typeface="+mn-lt"/>
                <a:cs typeface="+mn-lt"/>
              </a:rPr>
              <a:t>Calculated averages + visualized trends</a:t>
            </a:r>
            <a:endParaRPr lang="en-US"/>
          </a:p>
          <a:p>
            <a:endParaRPr lang="en-US"/>
          </a:p>
        </p:txBody>
      </p:sp>
    </p:spTree>
    <p:extLst>
      <p:ext uri="{BB962C8B-B14F-4D97-AF65-F5344CB8AC3E}">
        <p14:creationId xmlns:p14="http://schemas.microsoft.com/office/powerpoint/2010/main" val="2808284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3">
            <a:extLst>
              <a:ext uri="{FF2B5EF4-FFF2-40B4-BE49-F238E27FC236}">
                <a16:creationId xmlns:a16="http://schemas.microsoft.com/office/drawing/2014/main" id="{93BCEC07-9DCE-3E2D-FD67-C58A7CE0BA5D}"/>
              </a:ext>
            </a:extLst>
          </p:cNvPr>
          <p:cNvSpPr>
            <a:spLocks noGrp="1"/>
          </p:cNvSpPr>
          <p:nvPr>
            <p:ph type="title"/>
          </p:nvPr>
        </p:nvSpPr>
        <p:spPr>
          <a:xfrm>
            <a:off x="850392" y="832104"/>
            <a:ext cx="10881360" cy="1069848"/>
          </a:xfrm>
        </p:spPr>
        <p:txBody>
          <a:bodyPr anchor="ctr">
            <a:normAutofit/>
          </a:bodyPr>
          <a:lstStyle/>
          <a:p>
            <a:r>
              <a:rPr lang="en-US" sz="3400"/>
              <a:t>Finding 1: </a:t>
            </a:r>
            <a:r>
              <a:rPr lang="en-US" sz="3400">
                <a:ea typeface="+mj-lt"/>
                <a:cs typeface="+mj-lt"/>
              </a:rPr>
              <a:t>Average Piece Count by Set Size</a:t>
            </a:r>
            <a:endParaRPr lang="en-US"/>
          </a:p>
        </p:txBody>
      </p:sp>
      <p:sp>
        <p:nvSpPr>
          <p:cNvPr id="17" name="Content Placeholder 4">
            <a:extLst>
              <a:ext uri="{FF2B5EF4-FFF2-40B4-BE49-F238E27FC236}">
                <a16:creationId xmlns:a16="http://schemas.microsoft.com/office/drawing/2014/main" id="{488EC340-DA19-5B11-76D9-6B4966DC7EF3}"/>
              </a:ext>
            </a:extLst>
          </p:cNvPr>
          <p:cNvSpPr>
            <a:spLocks noGrp="1"/>
          </p:cNvSpPr>
          <p:nvPr>
            <p:ph sz="half" idx="1"/>
          </p:nvPr>
        </p:nvSpPr>
        <p:spPr>
          <a:xfrm>
            <a:off x="849745" y="2143399"/>
            <a:ext cx="5251422" cy="4033014"/>
          </a:xfrm>
        </p:spPr>
        <p:txBody>
          <a:bodyPr vert="horz" lIns="91440" tIns="45720" rIns="91440" bIns="45720" rtlCol="0" anchor="t">
            <a:normAutofit/>
          </a:bodyPr>
          <a:lstStyle/>
          <a:p>
            <a:pPr marL="0" indent="0">
              <a:buNone/>
            </a:pPr>
            <a:r>
              <a:rPr lang="en-US" sz="2000" b="1">
                <a:ea typeface="+mn-lt"/>
                <a:cs typeface="+mn-lt"/>
              </a:rPr>
              <a:t>Key Observation: </a:t>
            </a:r>
            <a:r>
              <a:rPr lang="en-US" sz="2000">
                <a:ea typeface="+mn-lt"/>
                <a:cs typeface="+mn-lt"/>
              </a:rPr>
              <a:t>Piece count scales dramatically with set size:</a:t>
            </a:r>
            <a:endParaRPr lang="en-US" sz="2000"/>
          </a:p>
          <a:p>
            <a:pPr marL="0" indent="0">
              <a:buNone/>
            </a:pPr>
            <a:endParaRPr lang="en-US" sz="2000">
              <a:ea typeface="+mn-lt"/>
              <a:cs typeface="+mn-lt"/>
            </a:endParaRPr>
          </a:p>
          <a:p>
            <a:pPr indent="-347345"/>
            <a:r>
              <a:rPr lang="en-US" sz="2000">
                <a:ea typeface="+mn-lt"/>
                <a:cs typeface="+mn-lt"/>
              </a:rPr>
              <a:t>Small: 68 pieces (baseline)</a:t>
            </a:r>
          </a:p>
          <a:p>
            <a:pPr indent="-347345"/>
            <a:r>
              <a:rPr lang="en-US" sz="2000">
                <a:ea typeface="+mn-lt"/>
                <a:cs typeface="+mn-lt"/>
              </a:rPr>
              <a:t>Medium: 236 pieces (3.5x more than Small)</a:t>
            </a:r>
          </a:p>
          <a:p>
            <a:pPr indent="-347345"/>
            <a:r>
              <a:rPr lang="en-US" sz="2000">
                <a:ea typeface="+mn-lt"/>
                <a:cs typeface="+mn-lt"/>
              </a:rPr>
              <a:t>Large: 980 pieces (14x more than Small; 4.2x more than Medium)</a:t>
            </a:r>
          </a:p>
          <a:p>
            <a:pPr indent="-347345"/>
            <a:endParaRPr lang="en-US" sz="2000">
              <a:ea typeface="+mn-lt"/>
              <a:cs typeface="+mn-lt"/>
            </a:endParaRPr>
          </a:p>
          <a:p>
            <a:pPr marL="0" indent="0">
              <a:buNone/>
            </a:pPr>
            <a:r>
              <a:rPr lang="en-US" sz="2000" b="1">
                <a:ea typeface="+mn-lt"/>
                <a:cs typeface="+mn-lt"/>
              </a:rPr>
              <a:t>Takeaway: </a:t>
            </a:r>
            <a:r>
              <a:rPr lang="en-US" sz="2000">
                <a:ea typeface="+mn-lt"/>
                <a:cs typeface="+mn-lt"/>
              </a:rPr>
              <a:t>Large sets deliver far more building content than smaller tiers.</a:t>
            </a:r>
            <a:endParaRPr lang="en-US" sz="2000"/>
          </a:p>
          <a:p>
            <a:pPr marL="347345" indent="-347345"/>
            <a:endParaRPr lang="en-US"/>
          </a:p>
          <a:p>
            <a:pPr marL="347345" indent="-347345"/>
            <a:endParaRPr lang="en-US"/>
          </a:p>
        </p:txBody>
      </p:sp>
      <p:pic>
        <p:nvPicPr>
          <p:cNvPr id="11" name="Picture 10" descr="A graph of a number of different colored squares&#10;&#10;AI-generated content may be incorrect.">
            <a:extLst>
              <a:ext uri="{FF2B5EF4-FFF2-40B4-BE49-F238E27FC236}">
                <a16:creationId xmlns:a16="http://schemas.microsoft.com/office/drawing/2014/main" id="{DB7420A8-C3C0-1168-1A56-73B7F5F3973C}"/>
              </a:ext>
            </a:extLst>
          </p:cNvPr>
          <p:cNvPicPr>
            <a:picLocks noChangeAspect="1"/>
          </p:cNvPicPr>
          <p:nvPr/>
        </p:nvPicPr>
        <p:blipFill>
          <a:blip r:embed="rId2"/>
          <a:srcRect l="11285" r="1" b="1"/>
          <a:stretch>
            <a:fillRect/>
          </a:stretch>
        </p:blipFill>
        <p:spPr>
          <a:xfrm>
            <a:off x="6172200" y="1825625"/>
            <a:ext cx="5181600" cy="4351338"/>
          </a:xfrm>
          <a:prstGeom prst="rect">
            <a:avLst/>
          </a:prstGeom>
          <a:noFill/>
        </p:spPr>
      </p:pic>
      <p:sp>
        <p:nvSpPr>
          <p:cNvPr id="7" name="Slide Number Placeholder 6">
            <a:extLst>
              <a:ext uri="{FF2B5EF4-FFF2-40B4-BE49-F238E27FC236}">
                <a16:creationId xmlns:a16="http://schemas.microsoft.com/office/drawing/2014/main" id="{E4B57BE6-BC63-B25F-FFCE-E88FDD441859}"/>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26</a:t>
            </a:fld>
            <a:endParaRPr lang="en-US"/>
          </a:p>
        </p:txBody>
      </p:sp>
    </p:spTree>
    <p:extLst>
      <p:ext uri="{BB962C8B-B14F-4D97-AF65-F5344CB8AC3E}">
        <p14:creationId xmlns:p14="http://schemas.microsoft.com/office/powerpoint/2010/main" val="3129454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4A9E0-ED6D-1CCF-0FEA-ECE82CC418A6}"/>
              </a:ext>
            </a:extLst>
          </p:cNvPr>
          <p:cNvSpPr>
            <a:spLocks noGrp="1"/>
          </p:cNvSpPr>
          <p:nvPr>
            <p:ph type="title"/>
          </p:nvPr>
        </p:nvSpPr>
        <p:spPr>
          <a:xfrm>
            <a:off x="850392" y="832104"/>
            <a:ext cx="10881360" cy="1069848"/>
          </a:xfrm>
        </p:spPr>
        <p:txBody>
          <a:bodyPr anchor="ctr">
            <a:normAutofit/>
          </a:bodyPr>
          <a:lstStyle/>
          <a:p>
            <a:r>
              <a:rPr lang="en-US" sz="3400"/>
              <a:t>Finding 2: </a:t>
            </a:r>
            <a:r>
              <a:rPr lang="en-US" sz="3400">
                <a:ea typeface="+mj-lt"/>
                <a:cs typeface="+mj-lt"/>
              </a:rPr>
              <a:t>Average Total Price by Set Size</a:t>
            </a:r>
          </a:p>
        </p:txBody>
      </p:sp>
      <p:sp>
        <p:nvSpPr>
          <p:cNvPr id="3" name="Content Placeholder 2">
            <a:extLst>
              <a:ext uri="{FF2B5EF4-FFF2-40B4-BE49-F238E27FC236}">
                <a16:creationId xmlns:a16="http://schemas.microsoft.com/office/drawing/2014/main" id="{E2F78135-E355-F4BE-91D6-DA5F6FC40D5D}"/>
              </a:ext>
            </a:extLst>
          </p:cNvPr>
          <p:cNvSpPr>
            <a:spLocks noGrp="1"/>
          </p:cNvSpPr>
          <p:nvPr>
            <p:ph sz="half" idx="1"/>
          </p:nvPr>
        </p:nvSpPr>
        <p:spPr>
          <a:xfrm>
            <a:off x="849745" y="2068079"/>
            <a:ext cx="5239327" cy="3612430"/>
          </a:xfrm>
        </p:spPr>
        <p:txBody>
          <a:bodyPr vert="horz" lIns="91440" tIns="45720" rIns="91440" bIns="45720" rtlCol="0" anchor="t">
            <a:normAutofit lnSpcReduction="10000"/>
          </a:bodyPr>
          <a:lstStyle/>
          <a:p>
            <a:pPr marL="0" indent="0">
              <a:buNone/>
            </a:pPr>
            <a:r>
              <a:rPr lang="en-US" sz="2000">
                <a:ea typeface="+mn-lt"/>
                <a:cs typeface="+mn-lt"/>
              </a:rPr>
              <a:t>Pricing Trend: </a:t>
            </a:r>
            <a:r>
              <a:rPr lang="en-US" sz="2000" b="1">
                <a:ea typeface="+mn-lt"/>
                <a:cs typeface="+mn-lt"/>
              </a:rPr>
              <a:t>Total price rises with size, but not </a:t>
            </a:r>
            <a:r>
              <a:rPr lang="en-US" sz="2000">
                <a:ea typeface="+mn-lt"/>
                <a:cs typeface="+mn-lt"/>
              </a:rPr>
              <a:t>proportionally:</a:t>
            </a:r>
            <a:endParaRPr lang="en-US" sz="2000"/>
          </a:p>
          <a:p>
            <a:pPr marL="0" indent="0">
              <a:buNone/>
            </a:pPr>
            <a:endParaRPr lang="en-US" sz="2000">
              <a:ea typeface="+mn-lt"/>
              <a:cs typeface="+mn-lt"/>
            </a:endParaRPr>
          </a:p>
          <a:p>
            <a:pPr indent="-347345"/>
            <a:r>
              <a:rPr lang="en-US" sz="2000">
                <a:ea typeface="+mn-lt"/>
                <a:cs typeface="+mn-lt"/>
              </a:rPr>
              <a:t>Small: $16 (baseline)</a:t>
            </a:r>
          </a:p>
          <a:p>
            <a:pPr indent="-347345"/>
            <a:r>
              <a:rPr lang="en-US" sz="2000">
                <a:ea typeface="+mn-lt"/>
                <a:cs typeface="+mn-lt"/>
              </a:rPr>
              <a:t>Medium: $27 (1.7x more than Small)</a:t>
            </a:r>
          </a:p>
          <a:p>
            <a:pPr indent="-347345"/>
            <a:r>
              <a:rPr lang="en-US" sz="2000">
                <a:ea typeface="+mn-lt"/>
                <a:cs typeface="+mn-lt"/>
              </a:rPr>
              <a:t>Large: $95 (6x more than Small; 3.5x more than Medium)</a:t>
            </a:r>
          </a:p>
          <a:p>
            <a:pPr indent="-347345"/>
            <a:endParaRPr lang="en-US" sz="2000">
              <a:ea typeface="+mn-lt"/>
              <a:cs typeface="+mn-lt"/>
            </a:endParaRPr>
          </a:p>
          <a:p>
            <a:pPr marL="0" indent="0">
              <a:buNone/>
            </a:pPr>
            <a:r>
              <a:rPr lang="en-US" sz="2000" b="1">
                <a:ea typeface="+mn-lt"/>
                <a:cs typeface="+mn-lt"/>
              </a:rPr>
              <a:t>Insight: </a:t>
            </a:r>
            <a:r>
              <a:rPr lang="en-US" sz="2000">
                <a:ea typeface="+mn-lt"/>
                <a:cs typeface="+mn-lt"/>
              </a:rPr>
              <a:t>Large sets cost more upfront, but their price growth lags far behind piece count growth.</a:t>
            </a:r>
            <a:endParaRPr lang="en-US" sz="2000"/>
          </a:p>
          <a:p>
            <a:pPr indent="-347345"/>
            <a:endParaRPr lang="en-US" sz="2000"/>
          </a:p>
        </p:txBody>
      </p:sp>
      <p:pic>
        <p:nvPicPr>
          <p:cNvPr id="7" name="Content Placeholder 6" descr="A graph of a number of different colored squares&#10;&#10;AI-generated content may be incorrect.">
            <a:extLst>
              <a:ext uri="{FF2B5EF4-FFF2-40B4-BE49-F238E27FC236}">
                <a16:creationId xmlns:a16="http://schemas.microsoft.com/office/drawing/2014/main" id="{A03E28BE-3853-8E75-AEE5-656585C6C6DE}"/>
              </a:ext>
            </a:extLst>
          </p:cNvPr>
          <p:cNvPicPr>
            <a:picLocks noGrp="1" noChangeAspect="1"/>
          </p:cNvPicPr>
          <p:nvPr>
            <p:ph sz="half" idx="2"/>
          </p:nvPr>
        </p:nvPicPr>
        <p:blipFill>
          <a:blip r:embed="rId2"/>
          <a:stretch>
            <a:fillRect/>
          </a:stretch>
        </p:blipFill>
        <p:spPr>
          <a:xfrm>
            <a:off x="6172200" y="2071148"/>
            <a:ext cx="5181600" cy="3860291"/>
          </a:xfrm>
          <a:prstGeom prst="rect">
            <a:avLst/>
          </a:prstGeom>
          <a:noFill/>
        </p:spPr>
      </p:pic>
      <p:sp>
        <p:nvSpPr>
          <p:cNvPr id="6" name="Slide Number Placeholder 5">
            <a:extLst>
              <a:ext uri="{FF2B5EF4-FFF2-40B4-BE49-F238E27FC236}">
                <a16:creationId xmlns:a16="http://schemas.microsoft.com/office/drawing/2014/main" id="{669B2510-CFC6-4133-033F-A1DF11F54DB6}"/>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27</a:t>
            </a:fld>
            <a:endParaRPr lang="en-US"/>
          </a:p>
        </p:txBody>
      </p:sp>
    </p:spTree>
    <p:extLst>
      <p:ext uri="{BB962C8B-B14F-4D97-AF65-F5344CB8AC3E}">
        <p14:creationId xmlns:p14="http://schemas.microsoft.com/office/powerpoint/2010/main" val="2936172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5468C-4AC1-9994-65FE-BD09D0028403}"/>
              </a:ext>
            </a:extLst>
          </p:cNvPr>
          <p:cNvSpPr>
            <a:spLocks noGrp="1"/>
          </p:cNvSpPr>
          <p:nvPr>
            <p:ph type="title"/>
          </p:nvPr>
        </p:nvSpPr>
        <p:spPr>
          <a:xfrm>
            <a:off x="850392" y="832104"/>
            <a:ext cx="10881360" cy="1069848"/>
          </a:xfrm>
        </p:spPr>
        <p:txBody>
          <a:bodyPr anchor="ctr">
            <a:normAutofit/>
          </a:bodyPr>
          <a:lstStyle/>
          <a:p>
            <a:r>
              <a:rPr lang="en-US" sz="3400"/>
              <a:t>Finding 3: </a:t>
            </a:r>
            <a:r>
              <a:rPr lang="en-US" sz="3400">
                <a:ea typeface="+mj-lt"/>
                <a:cs typeface="+mj-lt"/>
              </a:rPr>
              <a:t>Average Price per Piece by Set Size</a:t>
            </a:r>
          </a:p>
        </p:txBody>
      </p:sp>
      <p:sp>
        <p:nvSpPr>
          <p:cNvPr id="3" name="Content Placeholder 2">
            <a:extLst>
              <a:ext uri="{FF2B5EF4-FFF2-40B4-BE49-F238E27FC236}">
                <a16:creationId xmlns:a16="http://schemas.microsoft.com/office/drawing/2014/main" id="{E03528ED-372B-CD77-6823-0F58427772F4}"/>
              </a:ext>
            </a:extLst>
          </p:cNvPr>
          <p:cNvSpPr>
            <a:spLocks noGrp="1"/>
          </p:cNvSpPr>
          <p:nvPr>
            <p:ph sz="half" idx="1"/>
          </p:nvPr>
        </p:nvSpPr>
        <p:spPr>
          <a:xfrm>
            <a:off x="838200" y="1825625"/>
            <a:ext cx="5181600" cy="4351338"/>
          </a:xfrm>
        </p:spPr>
        <p:txBody>
          <a:bodyPr vert="horz" lIns="91440" tIns="45720" rIns="91440" bIns="45720" rtlCol="0" anchor="t">
            <a:normAutofit/>
          </a:bodyPr>
          <a:lstStyle/>
          <a:p>
            <a:pPr marL="0" indent="0">
              <a:buNone/>
            </a:pPr>
            <a:r>
              <a:rPr lang="en-US" sz="2000" b="1">
                <a:ea typeface="+mn-lt"/>
                <a:cs typeface="+mn-lt"/>
              </a:rPr>
              <a:t>Value Breakdown: </a:t>
            </a:r>
            <a:r>
              <a:rPr lang="en-US" sz="2000">
                <a:ea typeface="+mn-lt"/>
                <a:cs typeface="+mn-lt"/>
              </a:rPr>
              <a:t>Price per piece drops sharply with larger sets:</a:t>
            </a:r>
            <a:endParaRPr lang="en-US" sz="2000" b="1"/>
          </a:p>
          <a:p>
            <a:pPr marL="0" indent="0">
              <a:buNone/>
            </a:pPr>
            <a:endParaRPr lang="en-US" sz="2000">
              <a:ea typeface="+mn-lt"/>
              <a:cs typeface="+mn-lt"/>
            </a:endParaRPr>
          </a:p>
          <a:p>
            <a:pPr indent="-347345"/>
            <a:r>
              <a:rPr lang="en-US" sz="2000">
                <a:ea typeface="+mn-lt"/>
                <a:cs typeface="+mn-lt"/>
              </a:rPr>
              <a:t>Small: $1.419 (highest – 13.6x more than Large)</a:t>
            </a:r>
          </a:p>
          <a:p>
            <a:pPr indent="-347345"/>
            <a:r>
              <a:rPr lang="en-US" sz="2000">
                <a:ea typeface="+mn-lt"/>
                <a:cs typeface="+mn-lt"/>
              </a:rPr>
              <a:t>Medium: $0.118 (moderate)</a:t>
            </a:r>
          </a:p>
          <a:p>
            <a:pPr indent="-347345"/>
            <a:r>
              <a:rPr lang="en-US" sz="2000">
                <a:ea typeface="+mn-lt"/>
                <a:cs typeface="+mn-lt"/>
              </a:rPr>
              <a:t>Large: $0.104 (lowest – 93% better value than Small)</a:t>
            </a:r>
            <a:endParaRPr lang="en-US" sz="2000"/>
          </a:p>
          <a:p>
            <a:pPr indent="-347345"/>
            <a:endParaRPr lang="en-US" sz="2000">
              <a:ea typeface="+mn-lt"/>
              <a:cs typeface="+mn-lt"/>
            </a:endParaRPr>
          </a:p>
          <a:p>
            <a:pPr marL="0" indent="0">
              <a:buNone/>
            </a:pPr>
            <a:r>
              <a:rPr lang="en-US" sz="2000" b="1">
                <a:ea typeface="+mn-lt"/>
                <a:cs typeface="+mn-lt"/>
              </a:rPr>
              <a:t>Critical Finding:</a:t>
            </a:r>
            <a:r>
              <a:rPr lang="en-US" sz="2000">
                <a:ea typeface="+mn-lt"/>
                <a:cs typeface="+mn-lt"/>
              </a:rPr>
              <a:t> Size is the biggest driver of value – larger sets are far more cost-efficient.</a:t>
            </a:r>
            <a:endParaRPr lang="en-US" sz="2000"/>
          </a:p>
          <a:p>
            <a:pPr indent="-347345"/>
            <a:endParaRPr lang="en-US" sz="2000"/>
          </a:p>
        </p:txBody>
      </p:sp>
      <p:pic>
        <p:nvPicPr>
          <p:cNvPr id="7" name="Content Placeholder 6" descr="A graph of a number of different colored squares&#10;&#10;AI-generated content may be incorrect.">
            <a:extLst>
              <a:ext uri="{FF2B5EF4-FFF2-40B4-BE49-F238E27FC236}">
                <a16:creationId xmlns:a16="http://schemas.microsoft.com/office/drawing/2014/main" id="{9F87F79A-34B6-1FE1-7005-577F5581917D}"/>
              </a:ext>
            </a:extLst>
          </p:cNvPr>
          <p:cNvPicPr>
            <a:picLocks noGrp="1" noChangeAspect="1"/>
          </p:cNvPicPr>
          <p:nvPr>
            <p:ph sz="half" idx="2"/>
          </p:nvPr>
        </p:nvPicPr>
        <p:blipFill>
          <a:blip r:embed="rId2"/>
          <a:stretch>
            <a:fillRect/>
          </a:stretch>
        </p:blipFill>
        <p:spPr>
          <a:xfrm>
            <a:off x="6172200" y="2071148"/>
            <a:ext cx="5181600" cy="3860291"/>
          </a:xfrm>
          <a:prstGeom prst="rect">
            <a:avLst/>
          </a:prstGeom>
          <a:noFill/>
        </p:spPr>
      </p:pic>
      <p:sp>
        <p:nvSpPr>
          <p:cNvPr id="6" name="Slide Number Placeholder 5">
            <a:extLst>
              <a:ext uri="{FF2B5EF4-FFF2-40B4-BE49-F238E27FC236}">
                <a16:creationId xmlns:a16="http://schemas.microsoft.com/office/drawing/2014/main" id="{4DFFA108-FDA6-73E2-E34C-E49F740DA515}"/>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28</a:t>
            </a:fld>
            <a:endParaRPr lang="en-US"/>
          </a:p>
        </p:txBody>
      </p:sp>
    </p:spTree>
    <p:extLst>
      <p:ext uri="{BB962C8B-B14F-4D97-AF65-F5344CB8AC3E}">
        <p14:creationId xmlns:p14="http://schemas.microsoft.com/office/powerpoint/2010/main" val="2670018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7DD4-FC7A-0E46-DE2C-56601780D36F}"/>
              </a:ext>
            </a:extLst>
          </p:cNvPr>
          <p:cNvSpPr>
            <a:spLocks noGrp="1"/>
          </p:cNvSpPr>
          <p:nvPr>
            <p:ph type="title"/>
          </p:nvPr>
        </p:nvSpPr>
        <p:spPr>
          <a:xfrm>
            <a:off x="850392" y="832104"/>
            <a:ext cx="10881360" cy="1069848"/>
          </a:xfrm>
        </p:spPr>
        <p:txBody>
          <a:bodyPr anchor="ctr">
            <a:normAutofit fontScale="90000"/>
          </a:bodyPr>
          <a:lstStyle/>
          <a:p>
            <a:r>
              <a:rPr lang="en-US" b="0"/>
              <a:t>Business Implications &amp; Recommendations</a:t>
            </a:r>
          </a:p>
        </p:txBody>
      </p:sp>
      <p:sp>
        <p:nvSpPr>
          <p:cNvPr id="4" name="Content Placeholder 3">
            <a:extLst>
              <a:ext uri="{FF2B5EF4-FFF2-40B4-BE49-F238E27FC236}">
                <a16:creationId xmlns:a16="http://schemas.microsoft.com/office/drawing/2014/main" id="{976F2C7F-DAC1-ABF4-D8A1-71395A32EEF5}"/>
              </a:ext>
            </a:extLst>
          </p:cNvPr>
          <p:cNvSpPr>
            <a:spLocks noGrp="1"/>
          </p:cNvSpPr>
          <p:nvPr>
            <p:ph sz="half" idx="1"/>
          </p:nvPr>
        </p:nvSpPr>
        <p:spPr>
          <a:xfrm>
            <a:off x="849923" y="1896335"/>
            <a:ext cx="10284115" cy="3881113"/>
          </a:xfrm>
        </p:spPr>
        <p:txBody>
          <a:bodyPr vert="horz" lIns="91440" tIns="45720" rIns="91440" bIns="45720" rtlCol="0" anchor="t">
            <a:normAutofit/>
          </a:bodyPr>
          <a:lstStyle/>
          <a:p>
            <a:pPr marL="0" indent="0">
              <a:buNone/>
            </a:pPr>
            <a:endParaRPr lang="en-US" sz="2000" b="1">
              <a:cs typeface="Segoe UI"/>
            </a:endParaRPr>
          </a:p>
          <a:p>
            <a:pPr indent="-347345"/>
            <a:endParaRPr lang="en-US" sz="2000"/>
          </a:p>
        </p:txBody>
      </p:sp>
      <p:sp>
        <p:nvSpPr>
          <p:cNvPr id="6" name="Slide Number Placeholder 5">
            <a:extLst>
              <a:ext uri="{FF2B5EF4-FFF2-40B4-BE49-F238E27FC236}">
                <a16:creationId xmlns:a16="http://schemas.microsoft.com/office/drawing/2014/main" id="{197B02C1-CA25-A17C-4F33-D4DB27646DB9}"/>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29</a:t>
            </a:fld>
            <a:endParaRPr lang="en-US"/>
          </a:p>
        </p:txBody>
      </p:sp>
      <p:graphicFrame>
        <p:nvGraphicFramePr>
          <p:cNvPr id="11" name="Table 10">
            <a:extLst>
              <a:ext uri="{FF2B5EF4-FFF2-40B4-BE49-F238E27FC236}">
                <a16:creationId xmlns:a16="http://schemas.microsoft.com/office/drawing/2014/main" id="{AA0DA46D-E102-E7D8-EE84-B475B388FC00}"/>
              </a:ext>
            </a:extLst>
          </p:cNvPr>
          <p:cNvGraphicFramePr>
            <a:graphicFrameLocks noGrp="1"/>
          </p:cNvGraphicFramePr>
          <p:nvPr>
            <p:extLst>
              <p:ext uri="{D42A27DB-BD31-4B8C-83A1-F6EECF244321}">
                <p14:modId xmlns:p14="http://schemas.microsoft.com/office/powerpoint/2010/main" val="2820779059"/>
              </p:ext>
            </p:extLst>
          </p:nvPr>
        </p:nvGraphicFramePr>
        <p:xfrm>
          <a:off x="955523" y="1898952"/>
          <a:ext cx="9787292" cy="2286000"/>
        </p:xfrm>
        <a:graphic>
          <a:graphicData uri="http://schemas.openxmlformats.org/drawingml/2006/table">
            <a:tbl>
              <a:tblPr firstRow="1" bandRow="1">
                <a:tableStyleId>{5C22544A-7EE6-4342-B048-85BDC9FD1C3A}</a:tableStyleId>
              </a:tblPr>
              <a:tblGrid>
                <a:gridCol w="2446823">
                  <a:extLst>
                    <a:ext uri="{9D8B030D-6E8A-4147-A177-3AD203B41FA5}">
                      <a16:colId xmlns:a16="http://schemas.microsoft.com/office/drawing/2014/main" val="848000162"/>
                    </a:ext>
                  </a:extLst>
                </a:gridCol>
                <a:gridCol w="2446823">
                  <a:extLst>
                    <a:ext uri="{9D8B030D-6E8A-4147-A177-3AD203B41FA5}">
                      <a16:colId xmlns:a16="http://schemas.microsoft.com/office/drawing/2014/main" val="1538317619"/>
                    </a:ext>
                  </a:extLst>
                </a:gridCol>
                <a:gridCol w="2446823">
                  <a:extLst>
                    <a:ext uri="{9D8B030D-6E8A-4147-A177-3AD203B41FA5}">
                      <a16:colId xmlns:a16="http://schemas.microsoft.com/office/drawing/2014/main" val="423208638"/>
                    </a:ext>
                  </a:extLst>
                </a:gridCol>
                <a:gridCol w="2446823">
                  <a:extLst>
                    <a:ext uri="{9D8B030D-6E8A-4147-A177-3AD203B41FA5}">
                      <a16:colId xmlns:a16="http://schemas.microsoft.com/office/drawing/2014/main" val="4092126870"/>
                    </a:ext>
                  </a:extLst>
                </a:gridCol>
              </a:tblGrid>
              <a:tr h="362857">
                <a:tc>
                  <a:txBody>
                    <a:bodyPr/>
                    <a:lstStyle/>
                    <a:p>
                      <a:pPr lvl="0">
                        <a:buNone/>
                      </a:pPr>
                      <a:r>
                        <a:rPr lang="en-US" sz="1800" b="0" i="0" u="none" strike="noStrike" noProof="0">
                          <a:latin typeface="Segoe UI Light"/>
                        </a:rPr>
                        <a:t>Set Size</a:t>
                      </a:r>
                      <a:endParaRPr lang="en-US"/>
                    </a:p>
                  </a:txBody>
                  <a:tcPr/>
                </a:tc>
                <a:tc>
                  <a:txBody>
                    <a:bodyPr/>
                    <a:lstStyle/>
                    <a:p>
                      <a:pPr lvl="0">
                        <a:buNone/>
                      </a:pPr>
                      <a:r>
                        <a:rPr lang="en-US" sz="1800" b="0" i="0" u="none" strike="noStrike" kern="1200" noProof="0">
                          <a:solidFill>
                            <a:schemeClr val="lt1"/>
                          </a:solidFill>
                          <a:latin typeface="Segoe UI Light"/>
                          <a:ea typeface="+mn-ea"/>
                          <a:cs typeface="+mn-cs"/>
                        </a:rPr>
                        <a:t>Target Audience</a:t>
                      </a:r>
                      <a:endParaRPr lang="en-US" sz="1800" b="0" i="0" u="none" strike="noStrike" kern="1200">
                        <a:solidFill>
                          <a:schemeClr val="lt1"/>
                        </a:solidFill>
                        <a:latin typeface="Segoe UI Light"/>
                        <a:ea typeface="+mn-ea"/>
                        <a:cs typeface="+mn-cs"/>
                      </a:endParaRPr>
                    </a:p>
                  </a:txBody>
                  <a:tcPr/>
                </a:tc>
                <a:tc>
                  <a:txBody>
                    <a:bodyPr/>
                    <a:lstStyle/>
                    <a:p>
                      <a:pPr lvl="0">
                        <a:buNone/>
                      </a:pPr>
                      <a:r>
                        <a:rPr lang="en-US" sz="1800" b="0" i="0" u="none" strike="noStrike" noProof="0">
                          <a:latin typeface="Segoe UI Light"/>
                        </a:rPr>
                        <a:t>Purchase Driver</a:t>
                      </a:r>
                      <a:endParaRPr lang="en-US"/>
                    </a:p>
                  </a:txBody>
                  <a:tcPr/>
                </a:tc>
                <a:tc>
                  <a:txBody>
                    <a:bodyPr/>
                    <a:lstStyle/>
                    <a:p>
                      <a:pPr lvl="0">
                        <a:buNone/>
                      </a:pPr>
                      <a:r>
                        <a:rPr lang="en-US" sz="1800" b="0" i="0" u="none" strike="noStrike" noProof="0">
                          <a:latin typeface="Segoe UI Light"/>
                        </a:rPr>
                        <a:t>Business Role</a:t>
                      </a:r>
                      <a:endParaRPr lang="en-US"/>
                    </a:p>
                  </a:txBody>
                  <a:tcPr/>
                </a:tc>
                <a:extLst>
                  <a:ext uri="{0D108BD9-81ED-4DB2-BD59-A6C34878D82A}">
                    <a16:rowId xmlns:a16="http://schemas.microsoft.com/office/drawing/2014/main" val="4224947932"/>
                  </a:ext>
                </a:extLst>
              </a:tr>
              <a:tr h="370840">
                <a:tc>
                  <a:txBody>
                    <a:bodyPr/>
                    <a:lstStyle/>
                    <a:p>
                      <a:pPr lvl="0">
                        <a:buNone/>
                      </a:pPr>
                      <a:r>
                        <a:rPr lang="en-US" sz="1800" b="0" i="0" u="none" strike="noStrike" noProof="0">
                          <a:latin typeface="Segoe UI Light"/>
                        </a:rPr>
                        <a:t>Small</a:t>
                      </a:r>
                      <a:endParaRPr lang="en-US"/>
                    </a:p>
                  </a:txBody>
                  <a:tcPr/>
                </a:tc>
                <a:tc>
                  <a:txBody>
                    <a:bodyPr/>
                    <a:lstStyle/>
                    <a:p>
                      <a:pPr lvl="0">
                        <a:buNone/>
                      </a:pPr>
                      <a:r>
                        <a:rPr lang="en-US" sz="1800" b="0" i="0" u="none" strike="noStrike" noProof="0">
                          <a:latin typeface="Segoe UI Light"/>
                        </a:rPr>
                        <a:t>Impulse buyers/</a:t>
                      </a:r>
                      <a:r>
                        <a:rPr lang="en-US" sz="1800" b="0" i="0" u="none" strike="noStrike" noProof="0" err="1">
                          <a:latin typeface="Segoe UI Light"/>
                        </a:rPr>
                        <a:t>gifters</a:t>
                      </a:r>
                      <a:endParaRPr lang="en-US" err="1"/>
                    </a:p>
                  </a:txBody>
                  <a:tcPr/>
                </a:tc>
                <a:tc>
                  <a:txBody>
                    <a:bodyPr/>
                    <a:lstStyle/>
                    <a:p>
                      <a:pPr lvl="0">
                        <a:buNone/>
                      </a:pPr>
                      <a:r>
                        <a:rPr lang="en-US" sz="1800" b="0" i="0" u="none" strike="noStrike" noProof="0">
                          <a:latin typeface="Segoe UI Light"/>
                        </a:rPr>
                        <a:t>Low price, quick build</a:t>
                      </a:r>
                      <a:endParaRPr lang="en-US"/>
                    </a:p>
                  </a:txBody>
                  <a:tcPr/>
                </a:tc>
                <a:tc>
                  <a:txBody>
                    <a:bodyPr/>
                    <a:lstStyle/>
                    <a:p>
                      <a:pPr lvl="0">
                        <a:buNone/>
                      </a:pPr>
                      <a:r>
                        <a:rPr lang="en-US" sz="1800" b="0" i="0" u="none" strike="noStrike" noProof="0">
                          <a:latin typeface="Segoe UI Light"/>
                        </a:rPr>
                        <a:t>Stocking stuffers/entry gifts</a:t>
                      </a:r>
                      <a:endParaRPr lang="en-US"/>
                    </a:p>
                  </a:txBody>
                  <a:tcPr/>
                </a:tc>
                <a:extLst>
                  <a:ext uri="{0D108BD9-81ED-4DB2-BD59-A6C34878D82A}">
                    <a16:rowId xmlns:a16="http://schemas.microsoft.com/office/drawing/2014/main" val="3928200200"/>
                  </a:ext>
                </a:extLst>
              </a:tr>
              <a:tr h="370840">
                <a:tc>
                  <a:txBody>
                    <a:bodyPr/>
                    <a:lstStyle/>
                    <a:p>
                      <a:pPr lvl="0">
                        <a:buNone/>
                      </a:pPr>
                      <a:r>
                        <a:rPr lang="en-US" sz="1800" b="0" i="0" u="none" strike="noStrike" noProof="0">
                          <a:latin typeface="Segoe UI Light"/>
                        </a:rPr>
                        <a:t>Medium</a:t>
                      </a:r>
                      <a:endParaRPr lang="en-US"/>
                    </a:p>
                  </a:txBody>
                  <a:tcPr/>
                </a:tc>
                <a:tc>
                  <a:txBody>
                    <a:bodyPr/>
                    <a:lstStyle/>
                    <a:p>
                      <a:pPr lvl="0">
                        <a:buNone/>
                      </a:pPr>
                      <a:r>
                        <a:rPr lang="en-US" sz="1800" b="0" i="0" u="none" strike="noStrike" noProof="0">
                          <a:latin typeface="Segoe UI Light"/>
                        </a:rPr>
                        <a:t>Casual families/builders</a:t>
                      </a:r>
                      <a:endParaRPr lang="en-US"/>
                    </a:p>
                  </a:txBody>
                  <a:tcPr/>
                </a:tc>
                <a:tc>
                  <a:txBody>
                    <a:bodyPr/>
                    <a:lstStyle/>
                    <a:p>
                      <a:pPr lvl="0">
                        <a:buNone/>
                      </a:pPr>
                      <a:r>
                        <a:rPr lang="en-US" sz="1800" b="0" i="0" u="none" strike="noStrike" noProof="0">
                          <a:latin typeface="Segoe UI Light"/>
                        </a:rPr>
                        <a:t>Balance of cost/pieces</a:t>
                      </a:r>
                      <a:endParaRPr lang="en-US"/>
                    </a:p>
                  </a:txBody>
                  <a:tcPr/>
                </a:tc>
                <a:tc>
                  <a:txBody>
                    <a:bodyPr/>
                    <a:lstStyle/>
                    <a:p>
                      <a:pPr lvl="0">
                        <a:buNone/>
                      </a:pPr>
                      <a:r>
                        <a:rPr lang="en-US" sz="1800" b="0" i="0" u="none" strike="noStrike" noProof="0">
                          <a:latin typeface="Segoe UI Light"/>
                        </a:rPr>
                        <a:t>Core repeat-purchase segment</a:t>
                      </a:r>
                      <a:endParaRPr lang="en-US"/>
                    </a:p>
                  </a:txBody>
                  <a:tcPr/>
                </a:tc>
                <a:extLst>
                  <a:ext uri="{0D108BD9-81ED-4DB2-BD59-A6C34878D82A}">
                    <a16:rowId xmlns:a16="http://schemas.microsoft.com/office/drawing/2014/main" val="4250044080"/>
                  </a:ext>
                </a:extLst>
              </a:tr>
              <a:tr h="370840">
                <a:tc>
                  <a:txBody>
                    <a:bodyPr/>
                    <a:lstStyle/>
                    <a:p>
                      <a:pPr lvl="0">
                        <a:buNone/>
                      </a:pPr>
                      <a:r>
                        <a:rPr lang="en-US" sz="1800" b="0" i="0" u="none" strike="noStrike" noProof="0">
                          <a:latin typeface="Segoe UI Light"/>
                        </a:rPr>
                        <a:t>Large</a:t>
                      </a:r>
                      <a:endParaRPr lang="en-US"/>
                    </a:p>
                  </a:txBody>
                  <a:tcPr/>
                </a:tc>
                <a:tc>
                  <a:txBody>
                    <a:bodyPr/>
                    <a:lstStyle/>
                    <a:p>
                      <a:pPr lvl="0">
                        <a:buNone/>
                      </a:pPr>
                      <a:r>
                        <a:rPr lang="en-US" sz="1800" b="0" i="0" u="none" strike="noStrike" noProof="0">
                          <a:latin typeface="Segoe UI Light"/>
                        </a:rPr>
                        <a:t>Dedicated fans/collectors</a:t>
                      </a:r>
                      <a:endParaRPr lang="en-US"/>
                    </a:p>
                  </a:txBody>
                  <a:tcPr/>
                </a:tc>
                <a:tc>
                  <a:txBody>
                    <a:bodyPr/>
                    <a:lstStyle/>
                    <a:p>
                      <a:pPr lvl="0">
                        <a:buNone/>
                      </a:pPr>
                      <a:r>
                        <a:rPr lang="en-US" sz="1800" b="0" i="0" u="none" strike="noStrike" noProof="0">
                          <a:latin typeface="Segoe UI Light"/>
                        </a:rPr>
                        <a:t>Complexity/value</a:t>
                      </a:r>
                      <a:endParaRPr lang="en-US"/>
                    </a:p>
                  </a:txBody>
                  <a:tcPr/>
                </a:tc>
                <a:tc>
                  <a:txBody>
                    <a:bodyPr/>
                    <a:lstStyle/>
                    <a:p>
                      <a:pPr lvl="0">
                        <a:buNone/>
                      </a:pPr>
                      <a:r>
                        <a:rPr lang="en-US" sz="1800" b="0" i="0" u="none" strike="noStrike" noProof="0">
                          <a:latin typeface="Segoe UI Light"/>
                        </a:rPr>
                        <a:t>High-margin premium offerings</a:t>
                      </a:r>
                      <a:endParaRPr lang="en-US"/>
                    </a:p>
                  </a:txBody>
                  <a:tcPr/>
                </a:tc>
                <a:extLst>
                  <a:ext uri="{0D108BD9-81ED-4DB2-BD59-A6C34878D82A}">
                    <a16:rowId xmlns:a16="http://schemas.microsoft.com/office/drawing/2014/main" val="588113408"/>
                  </a:ext>
                </a:extLst>
              </a:tr>
            </a:tbl>
          </a:graphicData>
        </a:graphic>
      </p:graphicFrame>
      <p:sp>
        <p:nvSpPr>
          <p:cNvPr id="14" name="TextBox 13">
            <a:extLst>
              <a:ext uri="{FF2B5EF4-FFF2-40B4-BE49-F238E27FC236}">
                <a16:creationId xmlns:a16="http://schemas.microsoft.com/office/drawing/2014/main" id="{F62D6403-EAA7-802D-01BB-472314BA8F50}"/>
              </a:ext>
            </a:extLst>
          </p:cNvPr>
          <p:cNvSpPr txBox="1"/>
          <p:nvPr/>
        </p:nvSpPr>
        <p:spPr>
          <a:xfrm>
            <a:off x="846666" y="4432905"/>
            <a:ext cx="9639903"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mn-lt"/>
                <a:cs typeface="+mn-lt"/>
              </a:rPr>
              <a:t>Actionable Steps:</a:t>
            </a:r>
            <a:endParaRPr lang="en-US" b="1">
              <a:solidFill>
                <a:schemeClr val="bg1"/>
              </a:solidFill>
            </a:endParaRPr>
          </a:p>
          <a:p>
            <a:endParaRPr lang="en-US" sz="2000" b="1">
              <a:solidFill>
                <a:schemeClr val="bg1"/>
              </a:solidFill>
              <a:ea typeface="+mn-lt"/>
              <a:cs typeface="+mn-lt"/>
            </a:endParaRPr>
          </a:p>
          <a:p>
            <a:pPr marL="342900" indent="-342900">
              <a:buFont typeface="Courier New"/>
              <a:buChar char="o"/>
            </a:pPr>
            <a:r>
              <a:rPr lang="en-US" sz="2000">
                <a:solidFill>
                  <a:schemeClr val="bg1"/>
                </a:solidFill>
                <a:ea typeface="+mn-lt"/>
                <a:cs typeface="+mn-lt"/>
              </a:rPr>
              <a:t>Market Small Sets as "Quick Gifts": Avoid value messaging; focus on convenience. </a:t>
            </a:r>
            <a:endParaRPr lang="en-US">
              <a:solidFill>
                <a:schemeClr val="bg1"/>
              </a:solidFill>
              <a:ea typeface="+mn-lt"/>
              <a:cs typeface="+mn-lt"/>
            </a:endParaRPr>
          </a:p>
          <a:p>
            <a:pPr marL="342900" indent="-342900">
              <a:buFont typeface="Courier New"/>
              <a:buChar char="o"/>
            </a:pPr>
            <a:r>
              <a:rPr lang="en-US" sz="2000">
                <a:solidFill>
                  <a:schemeClr val="bg1"/>
                </a:solidFill>
                <a:ea typeface="+mn-lt"/>
                <a:cs typeface="+mn-lt"/>
              </a:rPr>
              <a:t>Expand Medium Set Options: Lean into their "sweet spot" of accessibility + value. </a:t>
            </a:r>
            <a:endParaRPr lang="en-US">
              <a:solidFill>
                <a:schemeClr val="bg1"/>
              </a:solidFill>
              <a:ea typeface="+mn-lt"/>
              <a:cs typeface="+mn-lt"/>
            </a:endParaRPr>
          </a:p>
          <a:p>
            <a:pPr marL="342900" indent="-342900">
              <a:buFont typeface="Courier New"/>
              <a:buChar char="o"/>
            </a:pPr>
            <a:r>
              <a:rPr lang="en-US" sz="2000">
                <a:solidFill>
                  <a:schemeClr val="bg1"/>
                </a:solidFill>
                <a:ea typeface="+mn-lt"/>
                <a:cs typeface="+mn-lt"/>
              </a:rPr>
              <a:t>Highlight Large Set Value: Emphasize low price per piece to justify upfront cost. </a:t>
            </a:r>
            <a:endParaRPr lang="en-US">
              <a:solidFill>
                <a:schemeClr val="bg1"/>
              </a:solidFill>
              <a:ea typeface="+mn-lt"/>
              <a:cs typeface="+mn-lt"/>
            </a:endParaRPr>
          </a:p>
          <a:p>
            <a:pPr marL="342900" indent="-342900">
              <a:buFont typeface="Courier New"/>
              <a:buChar char="o"/>
            </a:pPr>
            <a:r>
              <a:rPr lang="en-US" sz="2000">
                <a:solidFill>
                  <a:schemeClr val="bg1"/>
                </a:solidFill>
                <a:ea typeface="+mn-lt"/>
                <a:cs typeface="+mn-lt"/>
              </a:rPr>
              <a:t>Bundle Small Sets: Offer 2–3 small sets together to improve perceived value.</a:t>
            </a:r>
            <a:endParaRPr lang="en-US">
              <a:solidFill>
                <a:schemeClr val="bg1"/>
              </a:solidFill>
              <a:cs typeface="Segoe UI Light"/>
            </a:endParaRPr>
          </a:p>
          <a:p>
            <a:pPr algn="ctr"/>
            <a:endParaRPr lang="en-US"/>
          </a:p>
        </p:txBody>
      </p:sp>
    </p:spTree>
    <p:extLst>
      <p:ext uri="{BB962C8B-B14F-4D97-AF65-F5344CB8AC3E}">
        <p14:creationId xmlns:p14="http://schemas.microsoft.com/office/powerpoint/2010/main" val="2790440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a:xfrm>
            <a:off x="6618527" y="1954420"/>
            <a:ext cx="2845749" cy="1218361"/>
          </a:xfrm>
        </p:spPr>
        <p:txBody>
          <a:bodyPr/>
          <a:lstStyle/>
          <a:p>
            <a:r>
              <a:rPr lang="en-US" sz="7200" b="1" spc="600">
                <a:ln w="28575">
                  <a:noFill/>
                  <a:prstDash val="solid"/>
                </a:ln>
                <a:solidFill>
                  <a:schemeClr val="bg1"/>
                </a:solidFill>
                <a:latin typeface="Tw Cen MT" panose="020B0602020104020603" pitchFamily="34" charset="77"/>
              </a:rPr>
              <a:t>Q&amp;A</a:t>
            </a:r>
            <a:endParaRPr lang="en-US" sz="7200"/>
          </a:p>
        </p:txBody>
      </p:sp>
      <p:pic>
        <p:nvPicPr>
          <p:cNvPr id="7" name="Picture 6" descr="A note with a red pin on it&#10;&#10;AI-generated content may be incorrect.">
            <a:extLst>
              <a:ext uri="{FF2B5EF4-FFF2-40B4-BE49-F238E27FC236}">
                <a16:creationId xmlns:a16="http://schemas.microsoft.com/office/drawing/2014/main" id="{08F3BCF6-5B65-6BB6-4422-CB42254D996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354409"/>
            <a:ext cx="6858000" cy="6858000"/>
          </a:xfrm>
          <a:prstGeom prst="rect">
            <a:avLst/>
          </a:prstGeom>
        </p:spPr>
      </p:pic>
      <p:pic>
        <p:nvPicPr>
          <p:cNvPr id="14" name="Picture 13" descr="A person leaning on a question mark">
            <a:extLst>
              <a:ext uri="{FF2B5EF4-FFF2-40B4-BE49-F238E27FC236}">
                <a16:creationId xmlns:a16="http://schemas.microsoft.com/office/drawing/2014/main" id="{046C7EBB-E510-AC79-914E-A4C4418A0A7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837473B0-CC2E-450A-ABE3-18F120FF3D39}">
                <a1611:picAttrSrcUrl xmlns:a1611="http://schemas.microsoft.com/office/drawing/2016/11/main" r:id="rId6"/>
              </a:ext>
            </a:extLst>
          </a:blip>
          <a:stretch>
            <a:fillRect/>
          </a:stretch>
        </p:blipFill>
        <p:spPr>
          <a:xfrm>
            <a:off x="4924532" y="3429000"/>
            <a:ext cx="5080000" cy="3810000"/>
          </a:xfrm>
          <a:prstGeom prst="rect">
            <a:avLst/>
          </a:prstGeom>
        </p:spPr>
      </p:pic>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F8B8ECF1-2A9D-464C-AFE8-2B3295D0BF97}">
  <ds:schemaRefs>
    <ds:schemaRef ds:uri="71af3243-3dd4-4a8d-8c0d-dd76da1f02a5"/>
    <ds:schemaRef ds:uri="http://purl.org/dc/elements/1.1/"/>
    <ds:schemaRef ds:uri="http://schemas.microsoft.com/sharepoint/v3"/>
    <ds:schemaRef ds:uri="230e9df3-be65-4c73-a93b-d1236ebd677e"/>
    <ds:schemaRef ds:uri="http://schemas.microsoft.com/office/2006/documentManagement/types"/>
    <ds:schemaRef ds:uri="16c05727-aa75-4e4a-9b5f-8a80a1165891"/>
    <ds:schemaRef ds:uri="http://purl.org/dc/dcmitype/"/>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176493A3-2B83-4E58-86AD-56A2F2A20F1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0</TotalTime>
  <Words>2046</Words>
  <Application>Microsoft Office PowerPoint</Application>
  <PresentationFormat>Widescreen</PresentationFormat>
  <Paragraphs>346</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Courier New</vt:lpstr>
      <vt:lpstr>quote-cjk-patch</vt:lpstr>
      <vt:lpstr>Segoe UI</vt:lpstr>
      <vt:lpstr>Segoe UI Light</vt:lpstr>
      <vt:lpstr>Tw Cen MT</vt:lpstr>
      <vt:lpstr>Wingdings</vt:lpstr>
      <vt:lpstr>Office Theme</vt:lpstr>
      <vt:lpstr>LEGO Pricing &amp; Value Analysis DATA 3350 Group 2</vt:lpstr>
      <vt:lpstr>LEGO PROFIT OPTIMIZATION PROJECT</vt:lpstr>
      <vt:lpstr>Business context key issues related to profitability</vt:lpstr>
      <vt:lpstr>PROJECT WORKFLOW</vt:lpstr>
      <vt:lpstr>Questions OF INTEREST</vt:lpstr>
      <vt:lpstr>How Have LEGO Prices Changed Over Time? </vt:lpstr>
      <vt:lpstr>Dataset &amp; Method</vt:lpstr>
      <vt:lpstr>Findings (Average Price per Year)</vt:lpstr>
      <vt:lpstr>Findings (Price per Piece)</vt:lpstr>
      <vt:lpstr>An Age-Based Pricing Analysis of LEGO Sets</vt:lpstr>
      <vt:lpstr>Data Prep and Key Metrics</vt:lpstr>
      <vt:lpstr>Findings and Key Discoveries</vt:lpstr>
      <vt:lpstr>Data Prep and Key Metrics</vt:lpstr>
      <vt:lpstr>Which LEGO themes have the lowest average price per piece?</vt:lpstr>
      <vt:lpstr>Objective</vt:lpstr>
      <vt:lpstr>Top 10 Most Affordable LEGO Themes</vt:lpstr>
      <vt:lpstr>PowerPoint Presentation</vt:lpstr>
      <vt:lpstr>Key Takeaways</vt:lpstr>
      <vt:lpstr>Do sets with more piece's cost less per piece? </vt:lpstr>
      <vt:lpstr>PowerPoint Presentation</vt:lpstr>
      <vt:lpstr>PowerPoint Presentation</vt:lpstr>
      <vt:lpstr>PowerPoint Presentation</vt:lpstr>
      <vt:lpstr>PowerPoint Presentation</vt:lpstr>
      <vt:lpstr>LEGO Set Size Analysis:  Small vs. Medium vs. Large</vt:lpstr>
      <vt:lpstr>Question &amp; Methodology</vt:lpstr>
      <vt:lpstr>Finding 1: Average Piece Count by Set Size</vt:lpstr>
      <vt:lpstr>Finding 2: Average Total Price by Set Size</vt:lpstr>
      <vt:lpstr>Finding 3: Average Price per Piece by Set Size</vt:lpstr>
      <vt:lpstr>Business Implications &amp; Recommendations</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Surbhi Aqua</dc:creator>
  <cp:lastModifiedBy>Surbhi R Gemlawala</cp:lastModifiedBy>
  <cp:revision>1</cp:revision>
  <dcterms:created xsi:type="dcterms:W3CDTF">2025-12-08T21:11:33Z</dcterms:created>
  <dcterms:modified xsi:type="dcterms:W3CDTF">2025-12-11T02:08:43Z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